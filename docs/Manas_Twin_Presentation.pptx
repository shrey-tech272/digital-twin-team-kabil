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charts/chart1.xml" ContentType="application/vnd.openxmlformats-officedocument.drawingml.chart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notesSlides/notesSlide9.xml" ContentType="application/vnd.openxmlformats-officedocument.presentationml.notesSlide+xml"/>
  <Override PartName="/ppt/charts/chart4.xml" ContentType="application/vnd.openxmlformats-officedocument.drawingml.chart+xml"/>
  <Override PartName="/ppt/notesSlides/notesSlide10.xml" ContentType="application/vnd.openxmlformats-officedocument.presentationml.notesSlide+xml"/>
  <Override PartName="/ppt/charts/chart5.xml" ContentType="application/vnd.openxmlformats-officedocument.drawingml.chart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5"/>
  </p:notesMasterIdLst>
  <p:sldIdLst>
    <p:sldId id="256" r:id="rId2"/>
    <p:sldId id="257" r:id="rId3"/>
    <p:sldId id="258" r:id="rId4"/>
    <p:sldId id="260" r:id="rId5"/>
    <p:sldId id="270" r:id="rId6"/>
    <p:sldId id="262" r:id="rId7"/>
    <p:sldId id="263" r:id="rId8"/>
    <p:sldId id="264" r:id="rId9"/>
    <p:sldId id="265" r:id="rId10"/>
    <p:sldId id="266" r:id="rId11"/>
    <p:sldId id="267" r:id="rId12"/>
    <p:sldId id="268" r:id="rId13"/>
    <p:sldId id="269" r:id="rId14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Opening" id="{AADAD0C7-369C-6483-F36D-E6FB51B1F563}">
          <p14:sldIdLst>
            <p14:sldId id="256"/>
          </p14:sldIdLst>
        </p14:section>
        <p14:section name="Problem" id="{40B3B548-D1AD-6518-430E-D8BEA301E6E6}">
          <p14:sldIdLst>
            <p14:sldId id="257"/>
          </p14:sldIdLst>
        </p14:section>
        <p14:section name="Insight" id="{8B90BDAA-C99D-F9FE-C675-BF37E45FFA0E}">
          <p14:sldIdLst>
            <p14:sldId id="258"/>
            <p14:sldId id="260"/>
          </p14:sldIdLst>
        </p14:section>
        <p14:section name="Use case" id="{D37FAB4D-54C2-CC35-B7E5-E11B1774B5E4}">
          <p14:sldIdLst>
            <p14:sldId id="270"/>
            <p14:sldId id="262"/>
          </p14:sldIdLst>
        </p14:section>
        <p14:section name="Solution" id="{3DE372DE-9D45-F09E-7191-C0377361494B}">
          <p14:sldIdLst/>
        </p14:section>
        <p14:section name="Architecture" id="{500CFD67-0EBA-96DF-B786-2DD559D27143}">
          <p14:sldIdLst/>
        </p14:section>
        <p14:section name="Data and model" id="{7E2858F4-E18F-2988-5509-09A7BFAD7649}">
          <p14:sldIdLst>
            <p14:sldId id="263"/>
          </p14:sldIdLst>
        </p14:section>
        <p14:section name="Results" id="{B1CD7B2C-37DF-3A00-4599-8B29FEE2384F}">
          <p14:sldIdLst>
            <p14:sldId id="264"/>
            <p14:sldId id="265"/>
            <p14:sldId id="266"/>
          </p14:sldIdLst>
        </p14:section>
        <p14:section name="Responsible AI" id="{3CF77D77-BEB4-1A69-78EA-777C204866FD}">
          <p14:sldIdLst>
            <p14:sldId id="267"/>
          </p14:sldIdLst>
        </p14:section>
        <p14:section name="Roadmap" id="{3B5E49C6-6E1F-2222-43E3-760E2CE05A84}">
          <p14:sldIdLst>
            <p14:sldId id="268"/>
          </p14:sldIdLst>
        </p14:section>
        <p14:section name="Close" id="{7BE415F7-F47B-47A4-49C9-4617A24FDDAC}">
          <p14:sldIdLst>
            <p14:sldId id="269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63" d="100"/>
          <a:sy n="63" d="100"/>
        </p:scale>
        <p:origin x="780" y="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3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4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5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14313D"/>
                </a:solidFill>
                <a:latin typeface="+mn-lt"/>
              </a:defRPr>
            </a:pPr>
            <a:r>
              <a:rPr lang="en-US" sz="1300" b="0" i="0" u="none" strike="noStrike">
                <a:solidFill>
                  <a:srgbClr val="14313D"/>
                </a:solidFill>
                <a:latin typeface="+mn-lt"/>
              </a:rPr>
              <a:t>7-day average sleep (hours)</a:t>
            </a:r>
          </a:p>
        </c:rich>
      </c:tx>
      <c:overlay val="0"/>
    </c:title>
    <c:autoTitleDeleted val="0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Person A (usual 7.4 h)</c:v>
                </c:pt>
              </c:strCache>
            </c:strRef>
          </c:tx>
          <c:spPr>
            <a:ln w="31750" cap="flat">
              <a:solidFill>
                <a:srgbClr val="C8553D"/>
              </a:solidFill>
              <a:prstDash val="solid"/>
              <a:round/>
            </a:ln>
            <a:effectLst/>
          </c:spPr>
          <c:marker>
            <c:symbol val="none"/>
          </c:marker>
          <c:cat>
            <c:strRef>
              <c:f>Sheet1!$A$2:$A$67</c:f>
              <c:strCache>
                <c:ptCount val="66"/>
                <c:pt idx="0">
                  <c:v>2 Mar</c:v>
                </c:pt>
                <c:pt idx="1">
                  <c:v>3 Mar</c:v>
                </c:pt>
                <c:pt idx="2">
                  <c:v>4 Mar</c:v>
                </c:pt>
                <c:pt idx="3">
                  <c:v>5 Mar</c:v>
                </c:pt>
                <c:pt idx="4">
                  <c:v>6 Mar</c:v>
                </c:pt>
                <c:pt idx="5">
                  <c:v>7 Mar</c:v>
                </c:pt>
                <c:pt idx="6">
                  <c:v>8 Mar</c:v>
                </c:pt>
                <c:pt idx="7">
                  <c:v>9 Mar</c:v>
                </c:pt>
                <c:pt idx="8">
                  <c:v>10 Mar</c:v>
                </c:pt>
                <c:pt idx="9">
                  <c:v>11 Mar</c:v>
                </c:pt>
                <c:pt idx="10">
                  <c:v>12 Mar</c:v>
                </c:pt>
                <c:pt idx="11">
                  <c:v>13 Mar</c:v>
                </c:pt>
                <c:pt idx="12">
                  <c:v>14 Mar</c:v>
                </c:pt>
                <c:pt idx="13">
                  <c:v>15 Mar</c:v>
                </c:pt>
                <c:pt idx="14">
                  <c:v>16 Mar</c:v>
                </c:pt>
                <c:pt idx="15">
                  <c:v>17 Mar</c:v>
                </c:pt>
                <c:pt idx="16">
                  <c:v>18 Mar</c:v>
                </c:pt>
                <c:pt idx="17">
                  <c:v>19 Mar</c:v>
                </c:pt>
                <c:pt idx="18">
                  <c:v>20 Mar</c:v>
                </c:pt>
                <c:pt idx="19">
                  <c:v>21 Mar</c:v>
                </c:pt>
                <c:pt idx="20">
                  <c:v>22 Mar</c:v>
                </c:pt>
                <c:pt idx="21">
                  <c:v>23 Mar</c:v>
                </c:pt>
                <c:pt idx="22">
                  <c:v>24 Mar</c:v>
                </c:pt>
                <c:pt idx="23">
                  <c:v>25 Mar</c:v>
                </c:pt>
                <c:pt idx="24">
                  <c:v>26 Mar</c:v>
                </c:pt>
                <c:pt idx="25">
                  <c:v>27 Mar</c:v>
                </c:pt>
                <c:pt idx="26">
                  <c:v>28 Mar</c:v>
                </c:pt>
                <c:pt idx="27">
                  <c:v>29 Mar</c:v>
                </c:pt>
                <c:pt idx="28">
                  <c:v>30 Mar</c:v>
                </c:pt>
                <c:pt idx="29">
                  <c:v>31 Mar</c:v>
                </c:pt>
                <c:pt idx="30">
                  <c:v>1 Apr</c:v>
                </c:pt>
                <c:pt idx="31">
                  <c:v>2 Apr</c:v>
                </c:pt>
                <c:pt idx="32">
                  <c:v>3 Apr</c:v>
                </c:pt>
                <c:pt idx="33">
                  <c:v>4 Apr</c:v>
                </c:pt>
                <c:pt idx="34">
                  <c:v>5 Apr</c:v>
                </c:pt>
                <c:pt idx="35">
                  <c:v>6 Apr</c:v>
                </c:pt>
                <c:pt idx="36">
                  <c:v>7 Apr</c:v>
                </c:pt>
                <c:pt idx="37">
                  <c:v>8 Apr</c:v>
                </c:pt>
                <c:pt idx="38">
                  <c:v>9 Apr</c:v>
                </c:pt>
                <c:pt idx="39">
                  <c:v>10 Apr</c:v>
                </c:pt>
                <c:pt idx="40">
                  <c:v>11 Apr</c:v>
                </c:pt>
                <c:pt idx="41">
                  <c:v>12 Apr</c:v>
                </c:pt>
                <c:pt idx="42">
                  <c:v>13 Apr</c:v>
                </c:pt>
                <c:pt idx="43">
                  <c:v>14 Apr</c:v>
                </c:pt>
                <c:pt idx="44">
                  <c:v>15 Apr</c:v>
                </c:pt>
                <c:pt idx="45">
                  <c:v>16 Apr</c:v>
                </c:pt>
                <c:pt idx="46">
                  <c:v>17 Apr</c:v>
                </c:pt>
                <c:pt idx="47">
                  <c:v>18 Apr</c:v>
                </c:pt>
                <c:pt idx="48">
                  <c:v>19 Apr</c:v>
                </c:pt>
                <c:pt idx="49">
                  <c:v>20 Apr</c:v>
                </c:pt>
                <c:pt idx="50">
                  <c:v>21 Apr</c:v>
                </c:pt>
                <c:pt idx="51">
                  <c:v>22 Apr</c:v>
                </c:pt>
                <c:pt idx="52">
                  <c:v>23 Apr</c:v>
                </c:pt>
                <c:pt idx="53">
                  <c:v>24 Apr</c:v>
                </c:pt>
                <c:pt idx="54">
                  <c:v>25 Apr</c:v>
                </c:pt>
                <c:pt idx="55">
                  <c:v>26 Apr</c:v>
                </c:pt>
                <c:pt idx="56">
                  <c:v>27 Apr</c:v>
                </c:pt>
                <c:pt idx="57">
                  <c:v>28 Apr</c:v>
                </c:pt>
                <c:pt idx="58">
                  <c:v>29 Apr</c:v>
                </c:pt>
                <c:pt idx="59">
                  <c:v>30 Apr</c:v>
                </c:pt>
                <c:pt idx="60">
                  <c:v>1 May</c:v>
                </c:pt>
                <c:pt idx="61">
                  <c:v>2 May</c:v>
                </c:pt>
                <c:pt idx="62">
                  <c:v>3 May</c:v>
                </c:pt>
                <c:pt idx="63">
                  <c:v>4 May</c:v>
                </c:pt>
                <c:pt idx="64">
                  <c:v>5 May</c:v>
                </c:pt>
                <c:pt idx="65">
                  <c:v>6 May</c:v>
                </c:pt>
              </c:strCache>
            </c:strRef>
          </c:cat>
          <c:val>
            <c:numRef>
              <c:f>Sheet1!$B$2:$B$67</c:f>
              <c:numCache>
                <c:formatCode>General</c:formatCode>
                <c:ptCount val="66"/>
                <c:pt idx="0">
                  <c:v>7.14</c:v>
                </c:pt>
                <c:pt idx="1">
                  <c:v>6.93</c:v>
                </c:pt>
                <c:pt idx="2">
                  <c:v>7.09</c:v>
                </c:pt>
                <c:pt idx="3">
                  <c:v>7.09</c:v>
                </c:pt>
                <c:pt idx="4">
                  <c:v>7.18</c:v>
                </c:pt>
                <c:pt idx="5">
                  <c:v>7.27</c:v>
                </c:pt>
                <c:pt idx="6">
                  <c:v>7.34</c:v>
                </c:pt>
                <c:pt idx="7">
                  <c:v>7.17</c:v>
                </c:pt>
                <c:pt idx="8">
                  <c:v>7.28</c:v>
                </c:pt>
                <c:pt idx="9">
                  <c:v>7.35</c:v>
                </c:pt>
                <c:pt idx="10">
                  <c:v>7.69</c:v>
                </c:pt>
                <c:pt idx="11">
                  <c:v>7.81</c:v>
                </c:pt>
                <c:pt idx="12">
                  <c:v>7.89</c:v>
                </c:pt>
                <c:pt idx="13">
                  <c:v>7.88</c:v>
                </c:pt>
                <c:pt idx="14">
                  <c:v>7.9</c:v>
                </c:pt>
                <c:pt idx="15">
                  <c:v>8</c:v>
                </c:pt>
                <c:pt idx="16">
                  <c:v>7.92</c:v>
                </c:pt>
                <c:pt idx="17">
                  <c:v>7.71</c:v>
                </c:pt>
                <c:pt idx="18">
                  <c:v>7.55</c:v>
                </c:pt>
                <c:pt idx="19">
                  <c:v>7.42</c:v>
                </c:pt>
                <c:pt idx="20">
                  <c:v>7.29</c:v>
                </c:pt>
                <c:pt idx="21">
                  <c:v>7.53</c:v>
                </c:pt>
                <c:pt idx="22">
                  <c:v>7.37</c:v>
                </c:pt>
                <c:pt idx="23">
                  <c:v>7.46</c:v>
                </c:pt>
                <c:pt idx="24">
                  <c:v>7.49</c:v>
                </c:pt>
                <c:pt idx="25">
                  <c:v>7.54</c:v>
                </c:pt>
                <c:pt idx="26">
                  <c:v>7.61</c:v>
                </c:pt>
                <c:pt idx="27">
                  <c:v>7.68</c:v>
                </c:pt>
                <c:pt idx="28">
                  <c:v>7.4</c:v>
                </c:pt>
                <c:pt idx="29">
                  <c:v>7.44</c:v>
                </c:pt>
                <c:pt idx="30">
                  <c:v>7.46</c:v>
                </c:pt>
                <c:pt idx="31">
                  <c:v>7.37</c:v>
                </c:pt>
                <c:pt idx="32">
                  <c:v>7.4</c:v>
                </c:pt>
                <c:pt idx="33">
                  <c:v>7.42</c:v>
                </c:pt>
                <c:pt idx="34">
                  <c:v>7.45</c:v>
                </c:pt>
                <c:pt idx="35">
                  <c:v>7.49</c:v>
                </c:pt>
                <c:pt idx="36">
                  <c:v>7.76</c:v>
                </c:pt>
                <c:pt idx="37">
                  <c:v>7.83</c:v>
                </c:pt>
                <c:pt idx="38">
                  <c:v>7.84</c:v>
                </c:pt>
                <c:pt idx="39">
                  <c:v>7.75</c:v>
                </c:pt>
                <c:pt idx="40">
                  <c:v>7.74</c:v>
                </c:pt>
                <c:pt idx="41">
                  <c:v>7.81</c:v>
                </c:pt>
                <c:pt idx="42">
                  <c:v>7.88</c:v>
                </c:pt>
                <c:pt idx="43">
                  <c:v>7.73</c:v>
                </c:pt>
                <c:pt idx="44">
                  <c:v>7.56</c:v>
                </c:pt>
                <c:pt idx="45">
                  <c:v>7.62</c:v>
                </c:pt>
                <c:pt idx="46">
                  <c:v>7.55</c:v>
                </c:pt>
                <c:pt idx="47">
                  <c:v>7.4</c:v>
                </c:pt>
                <c:pt idx="48">
                  <c:v>7.15</c:v>
                </c:pt>
                <c:pt idx="49">
                  <c:v>6.95</c:v>
                </c:pt>
                <c:pt idx="50">
                  <c:v>6.65</c:v>
                </c:pt>
                <c:pt idx="51">
                  <c:v>6.83</c:v>
                </c:pt>
                <c:pt idx="52">
                  <c:v>6.57</c:v>
                </c:pt>
                <c:pt idx="53">
                  <c:v>6.53</c:v>
                </c:pt>
                <c:pt idx="54">
                  <c:v>6.56</c:v>
                </c:pt>
                <c:pt idx="55">
                  <c:v>6.68</c:v>
                </c:pt>
                <c:pt idx="56">
                  <c:v>6.82</c:v>
                </c:pt>
                <c:pt idx="57">
                  <c:v>6.79</c:v>
                </c:pt>
                <c:pt idx="58">
                  <c:v>6.52</c:v>
                </c:pt>
                <c:pt idx="59">
                  <c:v>6.67</c:v>
                </c:pt>
                <c:pt idx="60">
                  <c:v>6.64</c:v>
                </c:pt>
                <c:pt idx="61">
                  <c:v>6.74</c:v>
                </c:pt>
                <c:pt idx="62">
                  <c:v>6.88</c:v>
                </c:pt>
                <c:pt idx="63">
                  <c:v>6.82</c:v>
                </c:pt>
                <c:pt idx="64">
                  <c:v>7</c:v>
                </c:pt>
                <c:pt idx="65">
                  <c:v>7.07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67C6-4223-BBD2-441526D5F09B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Person B (usual 6.0 h)</c:v>
                </c:pt>
              </c:strCache>
            </c:strRef>
          </c:tx>
          <c:spPr>
            <a:ln w="31750" cap="flat">
              <a:solidFill>
                <a:srgbClr val="0F6E6E"/>
              </a:solidFill>
              <a:prstDash val="solid"/>
              <a:round/>
            </a:ln>
            <a:effectLst/>
          </c:spPr>
          <c:marker>
            <c:symbol val="none"/>
          </c:marker>
          <c:cat>
            <c:strRef>
              <c:f>Sheet1!$A$2:$A$67</c:f>
              <c:strCache>
                <c:ptCount val="66"/>
                <c:pt idx="0">
                  <c:v>2 Mar</c:v>
                </c:pt>
                <c:pt idx="1">
                  <c:v>3 Mar</c:v>
                </c:pt>
                <c:pt idx="2">
                  <c:v>4 Mar</c:v>
                </c:pt>
                <c:pt idx="3">
                  <c:v>5 Mar</c:v>
                </c:pt>
                <c:pt idx="4">
                  <c:v>6 Mar</c:v>
                </c:pt>
                <c:pt idx="5">
                  <c:v>7 Mar</c:v>
                </c:pt>
                <c:pt idx="6">
                  <c:v>8 Mar</c:v>
                </c:pt>
                <c:pt idx="7">
                  <c:v>9 Mar</c:v>
                </c:pt>
                <c:pt idx="8">
                  <c:v>10 Mar</c:v>
                </c:pt>
                <c:pt idx="9">
                  <c:v>11 Mar</c:v>
                </c:pt>
                <c:pt idx="10">
                  <c:v>12 Mar</c:v>
                </c:pt>
                <c:pt idx="11">
                  <c:v>13 Mar</c:v>
                </c:pt>
                <c:pt idx="12">
                  <c:v>14 Mar</c:v>
                </c:pt>
                <c:pt idx="13">
                  <c:v>15 Mar</c:v>
                </c:pt>
                <c:pt idx="14">
                  <c:v>16 Mar</c:v>
                </c:pt>
                <c:pt idx="15">
                  <c:v>17 Mar</c:v>
                </c:pt>
                <c:pt idx="16">
                  <c:v>18 Mar</c:v>
                </c:pt>
                <c:pt idx="17">
                  <c:v>19 Mar</c:v>
                </c:pt>
                <c:pt idx="18">
                  <c:v>20 Mar</c:v>
                </c:pt>
                <c:pt idx="19">
                  <c:v>21 Mar</c:v>
                </c:pt>
                <c:pt idx="20">
                  <c:v>22 Mar</c:v>
                </c:pt>
                <c:pt idx="21">
                  <c:v>23 Mar</c:v>
                </c:pt>
                <c:pt idx="22">
                  <c:v>24 Mar</c:v>
                </c:pt>
                <c:pt idx="23">
                  <c:v>25 Mar</c:v>
                </c:pt>
                <c:pt idx="24">
                  <c:v>26 Mar</c:v>
                </c:pt>
                <c:pt idx="25">
                  <c:v>27 Mar</c:v>
                </c:pt>
                <c:pt idx="26">
                  <c:v>28 Mar</c:v>
                </c:pt>
                <c:pt idx="27">
                  <c:v>29 Mar</c:v>
                </c:pt>
                <c:pt idx="28">
                  <c:v>30 Mar</c:v>
                </c:pt>
                <c:pt idx="29">
                  <c:v>31 Mar</c:v>
                </c:pt>
                <c:pt idx="30">
                  <c:v>1 Apr</c:v>
                </c:pt>
                <c:pt idx="31">
                  <c:v>2 Apr</c:v>
                </c:pt>
                <c:pt idx="32">
                  <c:v>3 Apr</c:v>
                </c:pt>
                <c:pt idx="33">
                  <c:v>4 Apr</c:v>
                </c:pt>
                <c:pt idx="34">
                  <c:v>5 Apr</c:v>
                </c:pt>
                <c:pt idx="35">
                  <c:v>6 Apr</c:v>
                </c:pt>
                <c:pt idx="36">
                  <c:v>7 Apr</c:v>
                </c:pt>
                <c:pt idx="37">
                  <c:v>8 Apr</c:v>
                </c:pt>
                <c:pt idx="38">
                  <c:v>9 Apr</c:v>
                </c:pt>
                <c:pt idx="39">
                  <c:v>10 Apr</c:v>
                </c:pt>
                <c:pt idx="40">
                  <c:v>11 Apr</c:v>
                </c:pt>
                <c:pt idx="41">
                  <c:v>12 Apr</c:v>
                </c:pt>
                <c:pt idx="42">
                  <c:v>13 Apr</c:v>
                </c:pt>
                <c:pt idx="43">
                  <c:v>14 Apr</c:v>
                </c:pt>
                <c:pt idx="44">
                  <c:v>15 Apr</c:v>
                </c:pt>
                <c:pt idx="45">
                  <c:v>16 Apr</c:v>
                </c:pt>
                <c:pt idx="46">
                  <c:v>17 Apr</c:v>
                </c:pt>
                <c:pt idx="47">
                  <c:v>18 Apr</c:v>
                </c:pt>
                <c:pt idx="48">
                  <c:v>19 Apr</c:v>
                </c:pt>
                <c:pt idx="49">
                  <c:v>20 Apr</c:v>
                </c:pt>
                <c:pt idx="50">
                  <c:v>21 Apr</c:v>
                </c:pt>
                <c:pt idx="51">
                  <c:v>22 Apr</c:v>
                </c:pt>
                <c:pt idx="52">
                  <c:v>23 Apr</c:v>
                </c:pt>
                <c:pt idx="53">
                  <c:v>24 Apr</c:v>
                </c:pt>
                <c:pt idx="54">
                  <c:v>25 Apr</c:v>
                </c:pt>
                <c:pt idx="55">
                  <c:v>26 Apr</c:v>
                </c:pt>
                <c:pt idx="56">
                  <c:v>27 Apr</c:v>
                </c:pt>
                <c:pt idx="57">
                  <c:v>28 Apr</c:v>
                </c:pt>
                <c:pt idx="58">
                  <c:v>29 Apr</c:v>
                </c:pt>
                <c:pt idx="59">
                  <c:v>30 Apr</c:v>
                </c:pt>
                <c:pt idx="60">
                  <c:v>1 May</c:v>
                </c:pt>
                <c:pt idx="61">
                  <c:v>2 May</c:v>
                </c:pt>
                <c:pt idx="62">
                  <c:v>3 May</c:v>
                </c:pt>
                <c:pt idx="63">
                  <c:v>4 May</c:v>
                </c:pt>
                <c:pt idx="64">
                  <c:v>5 May</c:v>
                </c:pt>
                <c:pt idx="65">
                  <c:v>6 May</c:v>
                </c:pt>
              </c:strCache>
            </c:strRef>
          </c:cat>
          <c:val>
            <c:numRef>
              <c:f>Sheet1!$C$2:$C$67</c:f>
              <c:numCache>
                <c:formatCode>General</c:formatCode>
                <c:ptCount val="66"/>
                <c:pt idx="0">
                  <c:v>6.51</c:v>
                </c:pt>
                <c:pt idx="1">
                  <c:v>6.53</c:v>
                </c:pt>
                <c:pt idx="2">
                  <c:v>6.31</c:v>
                </c:pt>
                <c:pt idx="3">
                  <c:v>6.38</c:v>
                </c:pt>
                <c:pt idx="4">
                  <c:v>6.24</c:v>
                </c:pt>
                <c:pt idx="5">
                  <c:v>6.21</c:v>
                </c:pt>
                <c:pt idx="6">
                  <c:v>6</c:v>
                </c:pt>
                <c:pt idx="7">
                  <c:v>5.98</c:v>
                </c:pt>
                <c:pt idx="8">
                  <c:v>5.75</c:v>
                </c:pt>
                <c:pt idx="9">
                  <c:v>5.75</c:v>
                </c:pt>
                <c:pt idx="10">
                  <c:v>5.8</c:v>
                </c:pt>
                <c:pt idx="11">
                  <c:v>5.7</c:v>
                </c:pt>
                <c:pt idx="12">
                  <c:v>5.89</c:v>
                </c:pt>
                <c:pt idx="13">
                  <c:v>6.13</c:v>
                </c:pt>
                <c:pt idx="14">
                  <c:v>6.27</c:v>
                </c:pt>
                <c:pt idx="15">
                  <c:v>6.46</c:v>
                </c:pt>
                <c:pt idx="16">
                  <c:v>6.72</c:v>
                </c:pt>
                <c:pt idx="17">
                  <c:v>6.5</c:v>
                </c:pt>
                <c:pt idx="18">
                  <c:v>6.4</c:v>
                </c:pt>
                <c:pt idx="19">
                  <c:v>6.25</c:v>
                </c:pt>
                <c:pt idx="20">
                  <c:v>6.33</c:v>
                </c:pt>
                <c:pt idx="21">
                  <c:v>5.97</c:v>
                </c:pt>
                <c:pt idx="22">
                  <c:v>5.87</c:v>
                </c:pt>
                <c:pt idx="23">
                  <c:v>5.75</c:v>
                </c:pt>
                <c:pt idx="24">
                  <c:v>5.71</c:v>
                </c:pt>
                <c:pt idx="25">
                  <c:v>5.69</c:v>
                </c:pt>
                <c:pt idx="26">
                  <c:v>5.49</c:v>
                </c:pt>
                <c:pt idx="27">
                  <c:v>5.37</c:v>
                </c:pt>
                <c:pt idx="28">
                  <c:v>5.4</c:v>
                </c:pt>
                <c:pt idx="29">
                  <c:v>5.43</c:v>
                </c:pt>
                <c:pt idx="30">
                  <c:v>5.44</c:v>
                </c:pt>
                <c:pt idx="31">
                  <c:v>5.45</c:v>
                </c:pt>
                <c:pt idx="32">
                  <c:v>5.34</c:v>
                </c:pt>
                <c:pt idx="33">
                  <c:v>5.38</c:v>
                </c:pt>
                <c:pt idx="34">
                  <c:v>5.19</c:v>
                </c:pt>
                <c:pt idx="35">
                  <c:v>5.19</c:v>
                </c:pt>
                <c:pt idx="36">
                  <c:v>5.01</c:v>
                </c:pt>
                <c:pt idx="37">
                  <c:v>4.92</c:v>
                </c:pt>
                <c:pt idx="38">
                  <c:v>4.9800000000000004</c:v>
                </c:pt>
                <c:pt idx="39">
                  <c:v>5.03</c:v>
                </c:pt>
                <c:pt idx="40">
                  <c:v>4.96</c:v>
                </c:pt>
                <c:pt idx="41">
                  <c:v>5.1100000000000003</c:v>
                </c:pt>
                <c:pt idx="42">
                  <c:v>5.27</c:v>
                </c:pt>
                <c:pt idx="43">
                  <c:v>5.37</c:v>
                </c:pt>
                <c:pt idx="44">
                  <c:v>5.38</c:v>
                </c:pt>
                <c:pt idx="45">
                  <c:v>5.49</c:v>
                </c:pt>
                <c:pt idx="46">
                  <c:v>5.8</c:v>
                </c:pt>
                <c:pt idx="47">
                  <c:v>6.03</c:v>
                </c:pt>
                <c:pt idx="48">
                  <c:v>5.96</c:v>
                </c:pt>
                <c:pt idx="49">
                  <c:v>5.94</c:v>
                </c:pt>
                <c:pt idx="50">
                  <c:v>5.99</c:v>
                </c:pt>
                <c:pt idx="51">
                  <c:v>5.95</c:v>
                </c:pt>
                <c:pt idx="52">
                  <c:v>6</c:v>
                </c:pt>
                <c:pt idx="53">
                  <c:v>5.82</c:v>
                </c:pt>
                <c:pt idx="54">
                  <c:v>5.85</c:v>
                </c:pt>
                <c:pt idx="55">
                  <c:v>5.9</c:v>
                </c:pt>
                <c:pt idx="56">
                  <c:v>5.89</c:v>
                </c:pt>
                <c:pt idx="57">
                  <c:v>5.85</c:v>
                </c:pt>
                <c:pt idx="58">
                  <c:v>5.94</c:v>
                </c:pt>
                <c:pt idx="59">
                  <c:v>5.82</c:v>
                </c:pt>
                <c:pt idx="60">
                  <c:v>5.93</c:v>
                </c:pt>
                <c:pt idx="61">
                  <c:v>5.74</c:v>
                </c:pt>
                <c:pt idx="62">
                  <c:v>5.77</c:v>
                </c:pt>
                <c:pt idx="63">
                  <c:v>5.68</c:v>
                </c:pt>
                <c:pt idx="64">
                  <c:v>5.6</c:v>
                </c:pt>
                <c:pt idx="65">
                  <c:v>5.71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67C6-4223-BBD2-441526D5F09B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Population cut-off (6 h)</c:v>
                </c:pt>
              </c:strCache>
            </c:strRef>
          </c:tx>
          <c:spPr>
            <a:ln w="31750" cap="flat">
              <a:solidFill>
                <a:srgbClr val="5B6B73"/>
              </a:solidFill>
              <a:prstDash val="solid"/>
              <a:round/>
            </a:ln>
            <a:effectLst/>
          </c:spPr>
          <c:marker>
            <c:symbol val="none"/>
          </c:marker>
          <c:cat>
            <c:strRef>
              <c:f>Sheet1!$A$2:$A$67</c:f>
              <c:strCache>
                <c:ptCount val="66"/>
                <c:pt idx="0">
                  <c:v>2 Mar</c:v>
                </c:pt>
                <c:pt idx="1">
                  <c:v>3 Mar</c:v>
                </c:pt>
                <c:pt idx="2">
                  <c:v>4 Mar</c:v>
                </c:pt>
                <c:pt idx="3">
                  <c:v>5 Mar</c:v>
                </c:pt>
                <c:pt idx="4">
                  <c:v>6 Mar</c:v>
                </c:pt>
                <c:pt idx="5">
                  <c:v>7 Mar</c:v>
                </c:pt>
                <c:pt idx="6">
                  <c:v>8 Mar</c:v>
                </c:pt>
                <c:pt idx="7">
                  <c:v>9 Mar</c:v>
                </c:pt>
                <c:pt idx="8">
                  <c:v>10 Mar</c:v>
                </c:pt>
                <c:pt idx="9">
                  <c:v>11 Mar</c:v>
                </c:pt>
                <c:pt idx="10">
                  <c:v>12 Mar</c:v>
                </c:pt>
                <c:pt idx="11">
                  <c:v>13 Mar</c:v>
                </c:pt>
                <c:pt idx="12">
                  <c:v>14 Mar</c:v>
                </c:pt>
                <c:pt idx="13">
                  <c:v>15 Mar</c:v>
                </c:pt>
                <c:pt idx="14">
                  <c:v>16 Mar</c:v>
                </c:pt>
                <c:pt idx="15">
                  <c:v>17 Mar</c:v>
                </c:pt>
                <c:pt idx="16">
                  <c:v>18 Mar</c:v>
                </c:pt>
                <c:pt idx="17">
                  <c:v>19 Mar</c:v>
                </c:pt>
                <c:pt idx="18">
                  <c:v>20 Mar</c:v>
                </c:pt>
                <c:pt idx="19">
                  <c:v>21 Mar</c:v>
                </c:pt>
                <c:pt idx="20">
                  <c:v>22 Mar</c:v>
                </c:pt>
                <c:pt idx="21">
                  <c:v>23 Mar</c:v>
                </c:pt>
                <c:pt idx="22">
                  <c:v>24 Mar</c:v>
                </c:pt>
                <c:pt idx="23">
                  <c:v>25 Mar</c:v>
                </c:pt>
                <c:pt idx="24">
                  <c:v>26 Mar</c:v>
                </c:pt>
                <c:pt idx="25">
                  <c:v>27 Mar</c:v>
                </c:pt>
                <c:pt idx="26">
                  <c:v>28 Mar</c:v>
                </c:pt>
                <c:pt idx="27">
                  <c:v>29 Mar</c:v>
                </c:pt>
                <c:pt idx="28">
                  <c:v>30 Mar</c:v>
                </c:pt>
                <c:pt idx="29">
                  <c:v>31 Mar</c:v>
                </c:pt>
                <c:pt idx="30">
                  <c:v>1 Apr</c:v>
                </c:pt>
                <c:pt idx="31">
                  <c:v>2 Apr</c:v>
                </c:pt>
                <c:pt idx="32">
                  <c:v>3 Apr</c:v>
                </c:pt>
                <c:pt idx="33">
                  <c:v>4 Apr</c:v>
                </c:pt>
                <c:pt idx="34">
                  <c:v>5 Apr</c:v>
                </c:pt>
                <c:pt idx="35">
                  <c:v>6 Apr</c:v>
                </c:pt>
                <c:pt idx="36">
                  <c:v>7 Apr</c:v>
                </c:pt>
                <c:pt idx="37">
                  <c:v>8 Apr</c:v>
                </c:pt>
                <c:pt idx="38">
                  <c:v>9 Apr</c:v>
                </c:pt>
                <c:pt idx="39">
                  <c:v>10 Apr</c:v>
                </c:pt>
                <c:pt idx="40">
                  <c:v>11 Apr</c:v>
                </c:pt>
                <c:pt idx="41">
                  <c:v>12 Apr</c:v>
                </c:pt>
                <c:pt idx="42">
                  <c:v>13 Apr</c:v>
                </c:pt>
                <c:pt idx="43">
                  <c:v>14 Apr</c:v>
                </c:pt>
                <c:pt idx="44">
                  <c:v>15 Apr</c:v>
                </c:pt>
                <c:pt idx="45">
                  <c:v>16 Apr</c:v>
                </c:pt>
                <c:pt idx="46">
                  <c:v>17 Apr</c:v>
                </c:pt>
                <c:pt idx="47">
                  <c:v>18 Apr</c:v>
                </c:pt>
                <c:pt idx="48">
                  <c:v>19 Apr</c:v>
                </c:pt>
                <c:pt idx="49">
                  <c:v>20 Apr</c:v>
                </c:pt>
                <c:pt idx="50">
                  <c:v>21 Apr</c:v>
                </c:pt>
                <c:pt idx="51">
                  <c:v>22 Apr</c:v>
                </c:pt>
                <c:pt idx="52">
                  <c:v>23 Apr</c:v>
                </c:pt>
                <c:pt idx="53">
                  <c:v>24 Apr</c:v>
                </c:pt>
                <c:pt idx="54">
                  <c:v>25 Apr</c:v>
                </c:pt>
                <c:pt idx="55">
                  <c:v>26 Apr</c:v>
                </c:pt>
                <c:pt idx="56">
                  <c:v>27 Apr</c:v>
                </c:pt>
                <c:pt idx="57">
                  <c:v>28 Apr</c:v>
                </c:pt>
                <c:pt idx="58">
                  <c:v>29 Apr</c:v>
                </c:pt>
                <c:pt idx="59">
                  <c:v>30 Apr</c:v>
                </c:pt>
                <c:pt idx="60">
                  <c:v>1 May</c:v>
                </c:pt>
                <c:pt idx="61">
                  <c:v>2 May</c:v>
                </c:pt>
                <c:pt idx="62">
                  <c:v>3 May</c:v>
                </c:pt>
                <c:pt idx="63">
                  <c:v>4 May</c:v>
                </c:pt>
                <c:pt idx="64">
                  <c:v>5 May</c:v>
                </c:pt>
                <c:pt idx="65">
                  <c:v>6 May</c:v>
                </c:pt>
              </c:strCache>
            </c:strRef>
          </c:cat>
          <c:val>
            <c:numRef>
              <c:f>Sheet1!$D$2:$D$67</c:f>
              <c:numCache>
                <c:formatCode>General</c:formatCode>
                <c:ptCount val="66"/>
                <c:pt idx="0">
                  <c:v>6</c:v>
                </c:pt>
                <c:pt idx="1">
                  <c:v>6</c:v>
                </c:pt>
                <c:pt idx="2">
                  <c:v>6</c:v>
                </c:pt>
                <c:pt idx="3">
                  <c:v>6</c:v>
                </c:pt>
                <c:pt idx="4">
                  <c:v>6</c:v>
                </c:pt>
                <c:pt idx="5">
                  <c:v>6</c:v>
                </c:pt>
                <c:pt idx="6">
                  <c:v>6</c:v>
                </c:pt>
                <c:pt idx="7">
                  <c:v>6</c:v>
                </c:pt>
                <c:pt idx="8">
                  <c:v>6</c:v>
                </c:pt>
                <c:pt idx="9">
                  <c:v>6</c:v>
                </c:pt>
                <c:pt idx="10">
                  <c:v>6</c:v>
                </c:pt>
                <c:pt idx="11">
                  <c:v>6</c:v>
                </c:pt>
                <c:pt idx="12">
                  <c:v>6</c:v>
                </c:pt>
                <c:pt idx="13">
                  <c:v>6</c:v>
                </c:pt>
                <c:pt idx="14">
                  <c:v>6</c:v>
                </c:pt>
                <c:pt idx="15">
                  <c:v>6</c:v>
                </c:pt>
                <c:pt idx="16">
                  <c:v>6</c:v>
                </c:pt>
                <c:pt idx="17">
                  <c:v>6</c:v>
                </c:pt>
                <c:pt idx="18">
                  <c:v>6</c:v>
                </c:pt>
                <c:pt idx="19">
                  <c:v>6</c:v>
                </c:pt>
                <c:pt idx="20">
                  <c:v>6</c:v>
                </c:pt>
                <c:pt idx="21">
                  <c:v>6</c:v>
                </c:pt>
                <c:pt idx="22">
                  <c:v>6</c:v>
                </c:pt>
                <c:pt idx="23">
                  <c:v>6</c:v>
                </c:pt>
                <c:pt idx="24">
                  <c:v>6</c:v>
                </c:pt>
                <c:pt idx="25">
                  <c:v>6</c:v>
                </c:pt>
                <c:pt idx="26">
                  <c:v>6</c:v>
                </c:pt>
                <c:pt idx="27">
                  <c:v>6</c:v>
                </c:pt>
                <c:pt idx="28">
                  <c:v>6</c:v>
                </c:pt>
                <c:pt idx="29">
                  <c:v>6</c:v>
                </c:pt>
                <c:pt idx="30">
                  <c:v>6</c:v>
                </c:pt>
                <c:pt idx="31">
                  <c:v>6</c:v>
                </c:pt>
                <c:pt idx="32">
                  <c:v>6</c:v>
                </c:pt>
                <c:pt idx="33">
                  <c:v>6</c:v>
                </c:pt>
                <c:pt idx="34">
                  <c:v>6</c:v>
                </c:pt>
                <c:pt idx="35">
                  <c:v>6</c:v>
                </c:pt>
                <c:pt idx="36">
                  <c:v>6</c:v>
                </c:pt>
                <c:pt idx="37">
                  <c:v>6</c:v>
                </c:pt>
                <c:pt idx="38">
                  <c:v>6</c:v>
                </c:pt>
                <c:pt idx="39">
                  <c:v>6</c:v>
                </c:pt>
                <c:pt idx="40">
                  <c:v>6</c:v>
                </c:pt>
                <c:pt idx="41">
                  <c:v>6</c:v>
                </c:pt>
                <c:pt idx="42">
                  <c:v>6</c:v>
                </c:pt>
                <c:pt idx="43">
                  <c:v>6</c:v>
                </c:pt>
                <c:pt idx="44">
                  <c:v>6</c:v>
                </c:pt>
                <c:pt idx="45">
                  <c:v>6</c:v>
                </c:pt>
                <c:pt idx="46">
                  <c:v>6</c:v>
                </c:pt>
                <c:pt idx="47">
                  <c:v>6</c:v>
                </c:pt>
                <c:pt idx="48">
                  <c:v>6</c:v>
                </c:pt>
                <c:pt idx="49">
                  <c:v>6</c:v>
                </c:pt>
                <c:pt idx="50">
                  <c:v>6</c:v>
                </c:pt>
                <c:pt idx="51">
                  <c:v>6</c:v>
                </c:pt>
                <c:pt idx="52">
                  <c:v>6</c:v>
                </c:pt>
                <c:pt idx="53">
                  <c:v>6</c:v>
                </c:pt>
                <c:pt idx="54">
                  <c:v>6</c:v>
                </c:pt>
                <c:pt idx="55">
                  <c:v>6</c:v>
                </c:pt>
                <c:pt idx="56">
                  <c:v>6</c:v>
                </c:pt>
                <c:pt idx="57">
                  <c:v>6</c:v>
                </c:pt>
                <c:pt idx="58">
                  <c:v>6</c:v>
                </c:pt>
                <c:pt idx="59">
                  <c:v>6</c:v>
                </c:pt>
                <c:pt idx="60">
                  <c:v>6</c:v>
                </c:pt>
                <c:pt idx="61">
                  <c:v>6</c:v>
                </c:pt>
                <c:pt idx="62">
                  <c:v>6</c:v>
                </c:pt>
                <c:pt idx="63">
                  <c:v>6</c:v>
                </c:pt>
                <c:pt idx="64">
                  <c:v>6</c:v>
                </c:pt>
                <c:pt idx="65">
                  <c:v>6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2-67C6-4223-BBD2-441526D5F09B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smooth val="0"/>
        <c:axId val="2094734554"/>
        <c:axId val="2094734552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5B6B73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tickLblSkip val="14"/>
        <c:noMultiLvlLbl val="1"/>
      </c:catAx>
      <c:valAx>
        <c:axId val="2094734552"/>
        <c:scaling>
          <c:orientation val="minMax"/>
          <c:max val="8.5"/>
          <c:min val="4.5"/>
        </c:scaling>
        <c:delete val="0"/>
        <c:axPos val="l"/>
        <c:majorGridlines>
          <c:spPr>
            <a:ln w="6350" cap="flat">
              <a:solidFill>
                <a:srgbClr val="E3E8E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5B6B73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200">
              <a:solidFill>
                <a:srgbClr val="14313D"/>
              </a:solidFill>
              <a:latin typeface="+mn-lt"/>
              <a:cs typeface="+mn-lt"/>
            </a:defRPr>
          </a:pPr>
          <a:endParaRPr lang="en-US"/>
        </a:p>
      </c:txPr>
    </c:legend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pPr>
              <a:defRPr sz="1400" b="0" i="0" u="none" strike="noStrike">
                <a:solidFill>
                  <a:srgbClr val="14313D"/>
                </a:solidFill>
                <a:latin typeface="+mn-lt"/>
              </a:defRPr>
            </a:pPr>
            <a:r>
              <a:rPr lang="en-US" sz="1400" b="0" i="0" u="none" strike="noStrike">
                <a:solidFill>
                  <a:srgbClr val="14313D"/>
                </a:solidFill>
                <a:latin typeface="+mn-lt"/>
              </a:rPr>
              <a:t>Episodes flagged before onset (%)</a:t>
            </a:r>
          </a:p>
        </c:rich>
      </c:tx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Episodes flagged</c:v>
                </c:pt>
              </c:strCache>
            </c:strRef>
          </c:tx>
          <c:spPr>
            <a:solidFill>
              <a:srgbClr val="0F6E6E"/>
            </a:solidFill>
            <a:effectLst/>
          </c:spPr>
          <c:invertIfNegative val="0"/>
          <c:dPt>
            <c:idx val="0"/>
            <c:invertIfNegative val="0"/>
            <c:bubble3D val="0"/>
            <c:spPr>
              <a:solidFill>
                <a:srgbClr val="0F6E6E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1-F86B-47C3-BD55-D58AACECABC6}"/>
              </c:ext>
            </c:extLst>
          </c:dPt>
          <c:dPt>
            <c:idx val="1"/>
            <c:invertIfNegative val="0"/>
            <c:bubble3D val="0"/>
            <c:spPr>
              <a:solidFill>
                <a:srgbClr val="B9C4C4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F86B-47C3-BD55-D58AACECABC6}"/>
              </c:ext>
            </c:extLst>
          </c:dPt>
          <c:dLbls>
            <c:numFmt formatCode="0.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400" b="0" i="0" u="none" strike="noStrike">
                    <a:solidFill>
                      <a:srgbClr val="14313D"/>
                    </a:solidFill>
                    <a:latin typeface="+mn-lt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Sheet1!$A$2:$A$3</c:f>
              <c:strCache>
                <c:ptCount val="2"/>
                <c:pt idx="0">
                  <c:v>Twin</c:v>
                </c:pt>
                <c:pt idx="1">
                  <c:v>Population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47.5</c:v>
                </c:pt>
                <c:pt idx="1">
                  <c:v>40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F86B-47C3-BD55-D58AACECABC6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6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5B6B73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60"/>
          <c:min val="0"/>
        </c:scaling>
        <c:delete val="1"/>
        <c:axPos val="l"/>
        <c:numFmt formatCode="General" sourceLinked="0"/>
        <c:majorTickMark val="out"/>
        <c:minorTickMark val="none"/>
        <c:tickLblPos val="nextTo"/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pPr>
              <a:defRPr sz="1400" b="0" i="0" u="none" strike="noStrike">
                <a:solidFill>
                  <a:srgbClr val="14313D"/>
                </a:solidFill>
                <a:latin typeface="+mn-lt"/>
              </a:defRPr>
            </a:pPr>
            <a:r>
              <a:rPr lang="en-US" sz="1400" b="0" i="0" u="none" strike="noStrike">
                <a:solidFill>
                  <a:srgbClr val="14313D"/>
                </a:solidFill>
                <a:latin typeface="+mn-lt"/>
              </a:rPr>
              <a:t>False-alert days per month</a:t>
            </a:r>
          </a:p>
        </c:rich>
      </c:tx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False alerts</c:v>
                </c:pt>
              </c:strCache>
            </c:strRef>
          </c:tx>
          <c:spPr>
            <a:solidFill>
              <a:srgbClr val="0F6E6E"/>
            </a:solidFill>
            <a:effectLst/>
          </c:spPr>
          <c:invertIfNegative val="0"/>
          <c:dPt>
            <c:idx val="0"/>
            <c:invertIfNegative val="0"/>
            <c:bubble3D val="0"/>
            <c:spPr>
              <a:solidFill>
                <a:srgbClr val="0F6E6E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1-D1EB-4CC4-934E-808FCE31D46F}"/>
              </c:ext>
            </c:extLst>
          </c:dPt>
          <c:dPt>
            <c:idx val="1"/>
            <c:invertIfNegative val="0"/>
            <c:bubble3D val="0"/>
            <c:spPr>
              <a:solidFill>
                <a:srgbClr val="B9C4C4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D1EB-4CC4-934E-808FCE31D46F}"/>
              </c:ext>
            </c:extLst>
          </c:dPt>
          <c:dLbls>
            <c:numFmt formatCode="0.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400" b="0" i="0" u="none" strike="noStrike">
                    <a:solidFill>
                      <a:srgbClr val="14313D"/>
                    </a:solidFill>
                    <a:latin typeface="+mn-lt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Sheet1!$A$2:$A$3</c:f>
              <c:strCache>
                <c:ptCount val="2"/>
                <c:pt idx="0">
                  <c:v>Twin</c:v>
                </c:pt>
                <c:pt idx="1">
                  <c:v>Population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1.17</c:v>
                </c:pt>
                <c:pt idx="1">
                  <c:v>1.55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D1EB-4CC4-934E-808FCE31D46F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6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5B6B73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2"/>
          <c:min val="0"/>
        </c:scaling>
        <c:delete val="1"/>
        <c:axPos val="l"/>
        <c:numFmt formatCode="General" sourceLinked="0"/>
        <c:majorTickMark val="out"/>
        <c:minorTickMark val="none"/>
        <c:tickLblPos val="nextTo"/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14313D"/>
                </a:solidFill>
                <a:latin typeface="+mn-lt"/>
              </a:defRPr>
            </a:pPr>
            <a:r>
              <a:rPr lang="en-US" sz="1300" b="0" i="0" u="none" strike="noStrike">
                <a:solidFill>
                  <a:srgbClr val="14313D"/>
                </a:solidFill>
                <a:latin typeface="+mn-lt"/>
              </a:rPr>
              <a:t>MT0441: risk of an episode starting within 7 days (%)</a:t>
            </a:r>
          </a:p>
        </c:rich>
      </c:tx>
      <c:overlay val="0"/>
    </c:title>
    <c:autoTitleDeleted val="0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Twin 7-day risk (%)</c:v>
                </c:pt>
              </c:strCache>
            </c:strRef>
          </c:tx>
          <c:spPr>
            <a:ln w="31750" cap="flat">
              <a:solidFill>
                <a:srgbClr val="14313D"/>
              </a:solidFill>
              <a:prstDash val="solid"/>
              <a:round/>
            </a:ln>
            <a:effectLst/>
          </c:spPr>
          <c:marker>
            <c:symbol val="circle"/>
            <c:size val="5"/>
            <c:spPr>
              <a:solidFill>
                <a:srgbClr val="14313D"/>
              </a:solidFill>
              <a:ln w="9525" cap="flat">
                <a:solidFill>
                  <a:srgbClr val="14313D"/>
                </a:solidFill>
                <a:prstDash val="solid"/>
                <a:round/>
              </a:ln>
              <a:effectLst/>
            </c:spPr>
          </c:marker>
          <c:cat>
            <c:strRef>
              <c:f>Sheet1!$A$2:$A$25</c:f>
              <c:strCache>
                <c:ptCount val="24"/>
                <c:pt idx="0">
                  <c:v>6 Apr</c:v>
                </c:pt>
                <c:pt idx="1">
                  <c:v>7 Apr</c:v>
                </c:pt>
                <c:pt idx="2">
                  <c:v>8 Apr</c:v>
                </c:pt>
                <c:pt idx="3">
                  <c:v>9 Apr</c:v>
                </c:pt>
                <c:pt idx="4">
                  <c:v>10 Apr</c:v>
                </c:pt>
                <c:pt idx="5">
                  <c:v>11 Apr</c:v>
                </c:pt>
                <c:pt idx="6">
                  <c:v>12 Apr</c:v>
                </c:pt>
                <c:pt idx="7">
                  <c:v>13 Apr</c:v>
                </c:pt>
                <c:pt idx="8">
                  <c:v>14 Apr</c:v>
                </c:pt>
                <c:pt idx="9">
                  <c:v>15 Apr</c:v>
                </c:pt>
                <c:pt idx="10">
                  <c:v>16 Apr</c:v>
                </c:pt>
                <c:pt idx="11">
                  <c:v>17 Apr</c:v>
                </c:pt>
                <c:pt idx="12">
                  <c:v>18 Apr</c:v>
                </c:pt>
                <c:pt idx="13">
                  <c:v>19 Apr</c:v>
                </c:pt>
                <c:pt idx="14">
                  <c:v>20 Apr</c:v>
                </c:pt>
                <c:pt idx="15">
                  <c:v>21 Apr</c:v>
                </c:pt>
                <c:pt idx="16">
                  <c:v>22 Apr</c:v>
                </c:pt>
                <c:pt idx="17">
                  <c:v>23 Apr</c:v>
                </c:pt>
                <c:pt idx="18">
                  <c:v>24 Apr</c:v>
                </c:pt>
                <c:pt idx="19">
                  <c:v>25 Apr</c:v>
                </c:pt>
                <c:pt idx="20">
                  <c:v>26 Apr</c:v>
                </c:pt>
                <c:pt idx="21">
                  <c:v>27 Apr</c:v>
                </c:pt>
                <c:pt idx="22">
                  <c:v>28 Apr</c:v>
                </c:pt>
                <c:pt idx="23">
                  <c:v>29 Apr</c:v>
                </c:pt>
              </c:strCache>
            </c:strRef>
          </c:cat>
          <c:val>
            <c:numRef>
              <c:f>Sheet1!$B$2:$B$25</c:f>
              <c:numCache>
                <c:formatCode>General</c:formatCode>
                <c:ptCount val="24"/>
                <c:pt idx="0">
                  <c:v>0.67</c:v>
                </c:pt>
                <c:pt idx="1">
                  <c:v>0.62</c:v>
                </c:pt>
                <c:pt idx="2">
                  <c:v>0.37</c:v>
                </c:pt>
                <c:pt idx="3">
                  <c:v>0.74</c:v>
                </c:pt>
                <c:pt idx="4">
                  <c:v>0.42</c:v>
                </c:pt>
                <c:pt idx="5">
                  <c:v>0.52</c:v>
                </c:pt>
                <c:pt idx="6">
                  <c:v>7.0000000000000007E-2</c:v>
                </c:pt>
                <c:pt idx="7">
                  <c:v>0.42</c:v>
                </c:pt>
                <c:pt idx="8">
                  <c:v>0.46</c:v>
                </c:pt>
                <c:pt idx="9">
                  <c:v>0.45</c:v>
                </c:pt>
                <c:pt idx="10">
                  <c:v>0.1</c:v>
                </c:pt>
                <c:pt idx="11">
                  <c:v>1.55</c:v>
                </c:pt>
                <c:pt idx="12">
                  <c:v>3.53</c:v>
                </c:pt>
                <c:pt idx="13">
                  <c:v>1.83</c:v>
                </c:pt>
                <c:pt idx="14">
                  <c:v>1.96</c:v>
                </c:pt>
                <c:pt idx="15">
                  <c:v>4.04</c:v>
                </c:pt>
                <c:pt idx="16">
                  <c:v>3.71</c:v>
                </c:pt>
                <c:pt idx="17">
                  <c:v>6.43</c:v>
                </c:pt>
                <c:pt idx="18">
                  <c:v>8.6</c:v>
                </c:pt>
                <c:pt idx="19">
                  <c:v>12.88</c:v>
                </c:pt>
                <c:pt idx="20">
                  <c:v>44.32</c:v>
                </c:pt>
                <c:pt idx="21">
                  <c:v>11.49</c:v>
                </c:pt>
                <c:pt idx="22">
                  <c:v>7.51</c:v>
                </c:pt>
                <c:pt idx="23">
                  <c:v>15.83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C15D-4C78-93DA-30DCD3D1BDA1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Early-warning threshold</c:v>
                </c:pt>
              </c:strCache>
            </c:strRef>
          </c:tx>
          <c:spPr>
            <a:ln w="31750" cap="flat">
              <a:solidFill>
                <a:srgbClr val="C8553D"/>
              </a:solidFill>
              <a:prstDash val="solid"/>
              <a:round/>
            </a:ln>
            <a:effectLst/>
          </c:spPr>
          <c:marker>
            <c:symbol val="circle"/>
            <c:size val="5"/>
            <c:spPr>
              <a:solidFill>
                <a:srgbClr val="C8553D"/>
              </a:solidFill>
              <a:ln w="9525" cap="flat">
                <a:solidFill>
                  <a:srgbClr val="C8553D"/>
                </a:solidFill>
                <a:prstDash val="solid"/>
                <a:round/>
              </a:ln>
              <a:effectLst/>
            </c:spPr>
          </c:marker>
          <c:cat>
            <c:strRef>
              <c:f>Sheet1!$A$2:$A$25</c:f>
              <c:strCache>
                <c:ptCount val="24"/>
                <c:pt idx="0">
                  <c:v>6 Apr</c:v>
                </c:pt>
                <c:pt idx="1">
                  <c:v>7 Apr</c:v>
                </c:pt>
                <c:pt idx="2">
                  <c:v>8 Apr</c:v>
                </c:pt>
                <c:pt idx="3">
                  <c:v>9 Apr</c:v>
                </c:pt>
                <c:pt idx="4">
                  <c:v>10 Apr</c:v>
                </c:pt>
                <c:pt idx="5">
                  <c:v>11 Apr</c:v>
                </c:pt>
                <c:pt idx="6">
                  <c:v>12 Apr</c:v>
                </c:pt>
                <c:pt idx="7">
                  <c:v>13 Apr</c:v>
                </c:pt>
                <c:pt idx="8">
                  <c:v>14 Apr</c:v>
                </c:pt>
                <c:pt idx="9">
                  <c:v>15 Apr</c:v>
                </c:pt>
                <c:pt idx="10">
                  <c:v>16 Apr</c:v>
                </c:pt>
                <c:pt idx="11">
                  <c:v>17 Apr</c:v>
                </c:pt>
                <c:pt idx="12">
                  <c:v>18 Apr</c:v>
                </c:pt>
                <c:pt idx="13">
                  <c:v>19 Apr</c:v>
                </c:pt>
                <c:pt idx="14">
                  <c:v>20 Apr</c:v>
                </c:pt>
                <c:pt idx="15">
                  <c:v>21 Apr</c:v>
                </c:pt>
                <c:pt idx="16">
                  <c:v>22 Apr</c:v>
                </c:pt>
                <c:pt idx="17">
                  <c:v>23 Apr</c:v>
                </c:pt>
                <c:pt idx="18">
                  <c:v>24 Apr</c:v>
                </c:pt>
                <c:pt idx="19">
                  <c:v>25 Apr</c:v>
                </c:pt>
                <c:pt idx="20">
                  <c:v>26 Apr</c:v>
                </c:pt>
                <c:pt idx="21">
                  <c:v>27 Apr</c:v>
                </c:pt>
                <c:pt idx="22">
                  <c:v>28 Apr</c:v>
                </c:pt>
                <c:pt idx="23">
                  <c:v>29 Apr</c:v>
                </c:pt>
              </c:strCache>
            </c:strRef>
          </c:cat>
          <c:val>
            <c:numRef>
              <c:f>Sheet1!$C$2:$C$25</c:f>
              <c:numCache>
                <c:formatCode>General</c:formatCode>
                <c:ptCount val="24"/>
                <c:pt idx="0">
                  <c:v>3.02</c:v>
                </c:pt>
                <c:pt idx="1">
                  <c:v>3.02</c:v>
                </c:pt>
                <c:pt idx="2">
                  <c:v>3.02</c:v>
                </c:pt>
                <c:pt idx="3">
                  <c:v>3.02</c:v>
                </c:pt>
                <c:pt idx="4">
                  <c:v>3.02</c:v>
                </c:pt>
                <c:pt idx="5">
                  <c:v>3.02</c:v>
                </c:pt>
                <c:pt idx="6">
                  <c:v>3.02</c:v>
                </c:pt>
                <c:pt idx="7">
                  <c:v>3.02</c:v>
                </c:pt>
                <c:pt idx="8">
                  <c:v>3.02</c:v>
                </c:pt>
                <c:pt idx="9">
                  <c:v>3.02</c:v>
                </c:pt>
                <c:pt idx="10">
                  <c:v>3.02</c:v>
                </c:pt>
                <c:pt idx="11">
                  <c:v>3.02</c:v>
                </c:pt>
                <c:pt idx="12">
                  <c:v>3.02</c:v>
                </c:pt>
                <c:pt idx="13">
                  <c:v>3.02</c:v>
                </c:pt>
                <c:pt idx="14">
                  <c:v>3.02</c:v>
                </c:pt>
                <c:pt idx="15">
                  <c:v>3.02</c:v>
                </c:pt>
                <c:pt idx="16">
                  <c:v>3.02</c:v>
                </c:pt>
                <c:pt idx="17">
                  <c:v>3.02</c:v>
                </c:pt>
                <c:pt idx="18">
                  <c:v>3.02</c:v>
                </c:pt>
                <c:pt idx="19">
                  <c:v>3.02</c:v>
                </c:pt>
                <c:pt idx="20">
                  <c:v>3.02</c:v>
                </c:pt>
                <c:pt idx="21">
                  <c:v>3.02</c:v>
                </c:pt>
                <c:pt idx="22">
                  <c:v>3.02</c:v>
                </c:pt>
                <c:pt idx="23">
                  <c:v>3.02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C15D-4C78-93DA-30DCD3D1BDA1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2094734554"/>
        <c:axId val="2094734552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5B6B73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tickLblSkip val="4"/>
        <c:noMultiLvlLbl val="1"/>
      </c:catAx>
      <c:valAx>
        <c:axId val="2094734552"/>
        <c:scaling>
          <c:orientation val="minMax"/>
          <c:max val="50"/>
          <c:min val="0"/>
        </c:scaling>
        <c:delete val="0"/>
        <c:axPos val="l"/>
        <c:majorGridlines>
          <c:spPr>
            <a:ln w="6350" cap="flat">
              <a:solidFill>
                <a:srgbClr val="E3E8E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5B6B73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200">
              <a:solidFill>
                <a:srgbClr val="14313D"/>
              </a:solidFill>
              <a:latin typeface="+mn-lt"/>
              <a:cs typeface="+mn-lt"/>
            </a:defRPr>
          </a:pPr>
          <a:endParaRPr lang="en-US"/>
        </a:p>
      </c:txPr>
    </c:legend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pPr>
              <a:defRPr sz="1400" b="0" i="0" u="none" strike="noStrike">
                <a:solidFill>
                  <a:srgbClr val="14313D"/>
                </a:solidFill>
                <a:latin typeface="+mn-lt"/>
              </a:defRPr>
            </a:pPr>
            <a:r>
              <a:rPr lang="en-US" sz="1400" b="0" i="0" u="none" strike="noStrike">
                <a:solidFill>
                  <a:srgbClr val="14313D"/>
                </a:solidFill>
                <a:latin typeface="+mn-lt"/>
              </a:rPr>
              <a:t>7-day episode risk (%)</a:t>
            </a:r>
          </a:p>
        </c:rich>
      </c:tx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Risk</c:v>
                </c:pt>
              </c:strCache>
            </c:strRef>
          </c:tx>
          <c:spPr>
            <a:solidFill>
              <a:srgbClr val="C8553D"/>
            </a:solidFill>
            <a:effectLst/>
          </c:spPr>
          <c:invertIfNegative val="0"/>
          <c:dPt>
            <c:idx val="0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1-47F4-49D2-9B4C-ACCB3D557B0B}"/>
              </c:ext>
            </c:extLst>
          </c:dPt>
          <c:dPt>
            <c:idx val="1"/>
            <c:invertIfNegative val="0"/>
            <c:bubble3D val="0"/>
            <c:spPr>
              <a:solidFill>
                <a:srgbClr val="0F6E6E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47F4-49D2-9B4C-ACCB3D557B0B}"/>
              </c:ext>
            </c:extLst>
          </c:dPt>
          <c:dLbls>
            <c:numFmt formatCode="0.0&quot;%&quot;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400" b="0" i="0" u="none" strike="noStrike">
                    <a:solidFill>
                      <a:srgbClr val="14313D"/>
                    </a:solidFill>
                    <a:latin typeface="+mn-lt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Sheet1!$A$2:$A$3</c:f>
              <c:strCache>
                <c:ptCount val="2"/>
                <c:pt idx="0">
                  <c:v>Now</c:v>
                </c:pt>
                <c:pt idx="1">
                  <c:v>Scenario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6.43</c:v>
                </c:pt>
                <c:pt idx="1">
                  <c:v>0.71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47F4-49D2-9B4C-ACCB3D557B0B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6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5B6B73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8"/>
          <c:min val="0"/>
        </c:scaling>
        <c:delete val="1"/>
        <c:axPos val="l"/>
        <c:numFmt formatCode="General" sourceLinked="0"/>
        <c:majorTickMark val="out"/>
        <c:minorTickMark val="none"/>
        <c:tickLblPos val="nextTo"/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99957304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Open with the hook: depression rarely arrives overnight. Introduce Manas Twin: manas means mind.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Cite NMHS 2015-16. The point: care starts after people are already unwell, if at all.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Person A still sleeps more than the cut-off but is drifting from their own 7.4 h normal and heads into an episode. Person B always sleeps under 6 h and is fine.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is what makes it a twin rather than a classifier: a per-person, continuously updated replica.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Be upfront that it is synthetic. Ground-truth episodes are used only to create labels and evaluate.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Validation is by person, so the test set only has people the model never saw.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About half of episodes flagged early, median 6 days ahead. Honest framing: a prompt for a human check-in.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MT0441, 18, engineering student in Kochi, end-semester exams.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Show this live in the What-if view. Stress that it is associative, not causal.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Narrow scope is deliberate. Crisis signals go to humans, and Tele-MANAS is shown in-app.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Be explicit about limitations: synthetic data, moderate sensitivity, associative what-if.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ARK">
    <p:bg>
      <p:bgPr>
        <a:solidFill>
          <a:srgbClr val="14313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347472"/>
            <a:ext cx="11064240" cy="91440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l">
              <a:buNone/>
              <a:defRPr lang="en-US" sz="28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defRPr>
            </a:lvl1pPr>
          </a:lstStyle>
          <a:p>
            <a:pPr marL="0" indent="0" algn="l">
              <a:buNone/>
            </a:pPr>
            <a:endParaRPr lang="en-US" sz="2800" dirty="0"/>
          </a:p>
        </p:txBody>
      </p:sp>
      <p:sp>
        <p:nvSpPr>
          <p:cNvPr id="3" name="Text 0"/>
          <p:cNvSpPr/>
          <p:nvPr/>
        </p:nvSpPr>
        <p:spPr>
          <a:xfrm>
            <a:off x="548640" y="644652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B6B73"/>
                </a:solidFill>
              </a:rPr>
              <a:t>Manas Twin · Happiest Health Summit 2026 · Digital Twin PoC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4652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5B6B73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ARCH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62525396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5" Type="http://schemas.openxmlformats.org/officeDocument/2006/relationships/theme" Target="../theme/theme1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4652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5B6B73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png"/><Relationship Id="rId3" Type="http://schemas.openxmlformats.org/officeDocument/2006/relationships/image" Target="../media/image5.png"/><Relationship Id="rId7" Type="http://schemas.openxmlformats.org/officeDocument/2006/relationships/image" Target="../media/image9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10" Type="http://schemas.openxmlformats.org/officeDocument/2006/relationships/image" Target="../media/image12.png"/><Relationship Id="rId4" Type="http://schemas.openxmlformats.org/officeDocument/2006/relationships/image" Target="../media/image6.png"/><Relationship Id="rId9" Type="http://schemas.openxmlformats.org/officeDocument/2006/relationships/image" Target="../media/image11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.png"/><Relationship Id="rId13" Type="http://schemas.openxmlformats.org/officeDocument/2006/relationships/image" Target="../media/image22.png"/><Relationship Id="rId3" Type="http://schemas.openxmlformats.org/officeDocument/2006/relationships/image" Target="../media/image13.png"/><Relationship Id="rId7" Type="http://schemas.openxmlformats.org/officeDocument/2006/relationships/image" Target="../media/image16.png"/><Relationship Id="rId12" Type="http://schemas.openxmlformats.org/officeDocument/2006/relationships/image" Target="../media/image2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15.png"/><Relationship Id="rId11" Type="http://schemas.openxmlformats.org/officeDocument/2006/relationships/image" Target="../media/image20.png"/><Relationship Id="rId5" Type="http://schemas.openxmlformats.org/officeDocument/2006/relationships/image" Target="../media/image14.png"/><Relationship Id="rId10" Type="http://schemas.openxmlformats.org/officeDocument/2006/relationships/image" Target="../media/image19.png"/><Relationship Id="rId4" Type="http://schemas.openxmlformats.org/officeDocument/2006/relationships/image" Target="../media/image12.png"/><Relationship Id="rId9" Type="http://schemas.openxmlformats.org/officeDocument/2006/relationships/image" Target="../media/image18.png"/><Relationship Id="rId14" Type="http://schemas.openxmlformats.org/officeDocument/2006/relationships/image" Target="../media/image23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26.png"/><Relationship Id="rId5" Type="http://schemas.openxmlformats.org/officeDocument/2006/relationships/image" Target="../media/image7.png"/><Relationship Id="rId4" Type="http://schemas.openxmlformats.org/officeDocument/2006/relationships/image" Target="../media/image25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.xml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.xml"/><Relationship Id="rId4" Type="http://schemas.openxmlformats.org/officeDocument/2006/relationships/chart" Target="../charts/chart3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chart" Target="../charts/chart4.xml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chart" Target="../charts/chart5.xml"/><Relationship Id="rId3" Type="http://schemas.openxmlformats.org/officeDocument/2006/relationships/image" Target="../media/image9.png"/><Relationship Id="rId7" Type="http://schemas.openxmlformats.org/officeDocument/2006/relationships/image" Target="../media/image27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12.png"/><Relationship Id="rId5" Type="http://schemas.openxmlformats.org/officeDocument/2006/relationships/image" Target="../media/image11.png"/><Relationship Id="rId4" Type="http://schemas.openxmlformats.org/officeDocument/2006/relationships/image" Target="../media/image2.png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27.png"/><Relationship Id="rId3" Type="http://schemas.openxmlformats.org/officeDocument/2006/relationships/image" Target="../media/image16.png"/><Relationship Id="rId7" Type="http://schemas.openxmlformats.org/officeDocument/2006/relationships/image" Target="../media/image17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29.png"/><Relationship Id="rId5" Type="http://schemas.openxmlformats.org/officeDocument/2006/relationships/image" Target="../media/image7.png"/><Relationship Id="rId4" Type="http://schemas.openxmlformats.org/officeDocument/2006/relationships/image" Target="../media/image28.pn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138160" y="1280160"/>
            <a:ext cx="3566160" cy="3566160"/>
          </a:xfrm>
          <a:prstGeom prst="ellipse">
            <a:avLst/>
          </a:prstGeom>
          <a:solidFill>
            <a:srgbClr val="0F6E6E">
              <a:alpha val="90000"/>
            </a:srgbClr>
          </a:solidFill>
          <a:ln w="12700">
            <a:solidFill>
              <a:srgbClr val="0F6E6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8732520" y="1874520"/>
            <a:ext cx="2377440" cy="2377440"/>
          </a:xfrm>
          <a:prstGeom prst="ellipse">
            <a:avLst/>
          </a:prstGeom>
          <a:solidFill>
            <a:srgbClr val="7FB7A6">
              <a:alpha val="80000"/>
            </a:srgbClr>
          </a:solidFill>
          <a:ln w="12700">
            <a:solidFill>
              <a:srgbClr val="7FB7A6"/>
            </a:solidFill>
            <a:prstDash val="solid"/>
          </a:ln>
        </p:spPr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372600" y="2514600"/>
            <a:ext cx="1097280" cy="109728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640080" y="1554480"/>
            <a:ext cx="73152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5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Manas Twin</a:t>
            </a:r>
            <a:endParaRPr lang="en-US" sz="5400" dirty="0"/>
          </a:p>
        </p:txBody>
      </p:sp>
      <p:sp>
        <p:nvSpPr>
          <p:cNvPr id="6" name="Text 3"/>
          <p:cNvSpPr txBox="1"/>
          <p:nvPr/>
        </p:nvSpPr>
        <p:spPr>
          <a:xfrm>
            <a:off x="640080" y="2651760"/>
            <a:ext cx="71323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200" dirty="0">
                <a:solidFill>
                  <a:srgbClr val="CFE5E1"/>
                </a:solidFill>
              </a:rPr>
              <a:t>A digital twin that warns of a depressive episode about a week before it begins</a:t>
            </a:r>
            <a:endParaRPr lang="en-US" sz="2200" dirty="0"/>
          </a:p>
        </p:txBody>
      </p:sp>
      <p:sp>
        <p:nvSpPr>
          <p:cNvPr id="7" name="Text 4"/>
          <p:cNvSpPr txBox="1"/>
          <p:nvPr/>
        </p:nvSpPr>
        <p:spPr>
          <a:xfrm>
            <a:off x="640080" y="3749040"/>
            <a:ext cx="7132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dirty="0">
                <a:solidFill>
                  <a:srgbClr val="B9C4C4"/>
                </a:solidFill>
              </a:rPr>
              <a:t>For Indian college students and young professionals, and the counsellors who support them</a:t>
            </a:r>
            <a:endParaRPr lang="en-US" sz="1500" dirty="0"/>
          </a:p>
        </p:txBody>
      </p:sp>
      <p:sp>
        <p:nvSpPr>
          <p:cNvPr id="8" name="Text 5"/>
          <p:cNvSpPr txBox="1"/>
          <p:nvPr/>
        </p:nvSpPr>
        <p:spPr>
          <a:xfrm>
            <a:off x="640080" y="5303520"/>
            <a:ext cx="7772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400"/>
              </a:spcAft>
              <a:buNone/>
            </a:pPr>
            <a:r>
              <a:rPr lang="en-US" sz="1300" dirty="0">
                <a:solidFill>
                  <a:srgbClr val="B9C4C4"/>
                </a:solidFill>
              </a:rPr>
              <a:t>Happiest Health · Reimagining and Reforming Healthcare in India Summit 2026, Bengaluru</a:t>
            </a:r>
            <a:endParaRPr lang="en-US" sz="13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300" dirty="0">
                <a:solidFill>
                  <a:srgbClr val="B9C4C4"/>
                </a:solidFill>
              </a:rPr>
              <a:t>Digital Twin Proof-of-Concept Challenge </a:t>
            </a:r>
          </a:p>
          <a:p>
            <a:pPr marL="0" indent="0">
              <a:spcAft>
                <a:spcPts val="400"/>
              </a:spcAft>
              <a:buNone/>
            </a:pPr>
            <a:endParaRPr lang="en-US" sz="1300" dirty="0">
              <a:solidFill>
                <a:srgbClr val="B9C4C4"/>
              </a:solidFill>
            </a:endParaRPr>
          </a:p>
          <a:p>
            <a:pPr marL="0" indent="0">
              <a:spcAft>
                <a:spcPts val="400"/>
              </a:spcAft>
              <a:buNone/>
            </a:pPr>
            <a:r>
              <a:rPr lang="en-US" sz="1300" dirty="0">
                <a:solidFill>
                  <a:srgbClr val="B9C4C4"/>
                </a:solidFill>
              </a:rPr>
              <a:t>· </a:t>
            </a:r>
            <a:r>
              <a:rPr lang="en-US" sz="1300" b="1" dirty="0">
                <a:solidFill>
                  <a:srgbClr val="B9C4C4"/>
                </a:solidFill>
              </a:rPr>
              <a:t>Team Kabil · Shreyansh Joshi (Team Lead)</a:t>
            </a:r>
            <a:endParaRPr lang="en-US" sz="1300" b="1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300" b="1" dirty="0">
                <a:solidFill>
                  <a:srgbClr val="B9C4C4"/>
                </a:solidFill>
              </a:rPr>
              <a:t>Symbiosis Centre for Information Technology (SCIT), Symbiosis International University, Pune</a:t>
            </a:r>
            <a:endParaRPr lang="en-US" sz="1300" b="1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347472"/>
            <a:ext cx="11064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8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India's mental-health care starts too late: the treatment gap exceeds 60% for almost every disorder</a:t>
            </a:r>
            <a:endParaRPr lang="en-US" sz="2800" dirty="0"/>
          </a:p>
        </p:txBody>
      </p:sp>
      <p:sp>
        <p:nvSpPr>
          <p:cNvPr id="4" name="Shape 1"/>
          <p:cNvSpPr/>
          <p:nvPr/>
        </p:nvSpPr>
        <p:spPr>
          <a:xfrm>
            <a:off x="548640" y="1600200"/>
            <a:ext cx="5120640" cy="1965960"/>
          </a:xfrm>
          <a:prstGeom prst="roundRect">
            <a:avLst>
              <a:gd name="adj" fmla="val 4651"/>
            </a:avLst>
          </a:prstGeom>
          <a:solidFill>
            <a:srgbClr val="EAF3F2"/>
          </a:solidFill>
          <a:ln w="12700">
            <a:solidFill>
              <a:srgbClr val="EAF3F2"/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>
            <a:off x="822960" y="1783080"/>
            <a:ext cx="21945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5400" b="1" dirty="0">
                <a:solidFill>
                  <a:srgbClr val="0F6E6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~15%</a:t>
            </a:r>
            <a:endParaRPr lang="en-US" sz="5400" dirty="0"/>
          </a:p>
        </p:txBody>
      </p:sp>
      <p:sp>
        <p:nvSpPr>
          <p:cNvPr id="6" name="Text 3"/>
          <p:cNvSpPr txBox="1"/>
          <p:nvPr/>
        </p:nvSpPr>
        <p:spPr>
          <a:xfrm>
            <a:off x="2971800" y="1920240"/>
            <a:ext cx="25146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14313D"/>
                </a:solidFill>
              </a:rPr>
              <a:t>of Indian adults need treatment for one or more mental health conditions</a:t>
            </a:r>
            <a:endParaRPr lang="en-US" sz="1500" dirty="0"/>
          </a:p>
        </p:txBody>
      </p:sp>
      <p:sp>
        <p:nvSpPr>
          <p:cNvPr id="7" name="Shape 4"/>
          <p:cNvSpPr/>
          <p:nvPr/>
        </p:nvSpPr>
        <p:spPr>
          <a:xfrm>
            <a:off x="548640" y="3794760"/>
            <a:ext cx="5120640" cy="1965960"/>
          </a:xfrm>
          <a:prstGeom prst="roundRect">
            <a:avLst>
              <a:gd name="adj" fmla="val 4651"/>
            </a:avLst>
          </a:prstGeom>
          <a:solidFill>
            <a:srgbClr val="F8E6E2"/>
          </a:solidFill>
          <a:ln w="12700">
            <a:solidFill>
              <a:srgbClr val="F8E6E2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822960" y="3977640"/>
            <a:ext cx="21945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5400" b="1" dirty="0">
                <a:solidFill>
                  <a:srgbClr val="C855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&gt;60%</a:t>
            </a:r>
            <a:endParaRPr lang="en-US" sz="5400" dirty="0"/>
          </a:p>
        </p:txBody>
      </p:sp>
      <p:sp>
        <p:nvSpPr>
          <p:cNvPr id="9" name="Text 6"/>
          <p:cNvSpPr txBox="1"/>
          <p:nvPr/>
        </p:nvSpPr>
        <p:spPr>
          <a:xfrm>
            <a:off x="2971800" y="4114800"/>
            <a:ext cx="25146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14313D"/>
                </a:solidFill>
              </a:rPr>
              <a:t>treatment gap for every mental disorder except epilepsy (range 28–83%)</a:t>
            </a:r>
            <a:endParaRPr lang="en-US" sz="1500" dirty="0"/>
          </a:p>
        </p:txBody>
      </p:sp>
      <p:sp>
        <p:nvSpPr>
          <p:cNvPr id="10" name="Text 7"/>
          <p:cNvSpPr txBox="1"/>
          <p:nvPr/>
        </p:nvSpPr>
        <p:spPr>
          <a:xfrm>
            <a:off x="6309360" y="1600200"/>
            <a:ext cx="5303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000" b="1" dirty="0">
                <a:solidFill>
                  <a:srgbClr val="14313D"/>
                </a:solidFill>
              </a:rPr>
              <a:t>Why care starts late</a:t>
            </a:r>
            <a:endParaRPr lang="en-US" sz="2000" dirty="0"/>
          </a:p>
        </p:txBody>
      </p:sp>
      <p:sp>
        <p:nvSpPr>
          <p:cNvPr id="11" name="Shape 8"/>
          <p:cNvSpPr/>
          <p:nvPr/>
        </p:nvSpPr>
        <p:spPr>
          <a:xfrm>
            <a:off x="6309360" y="2240280"/>
            <a:ext cx="640080" cy="640080"/>
          </a:xfrm>
          <a:prstGeom prst="ellipse">
            <a:avLst/>
          </a:prstGeom>
          <a:solidFill>
            <a:srgbClr val="0F6E6E"/>
          </a:solidFill>
          <a:ln w="12700">
            <a:solidFill>
              <a:srgbClr val="0F6E6E"/>
            </a:solidFill>
            <a:prstDash val="solid"/>
          </a:ln>
        </p:spPr>
      </p:sp>
      <p:pic>
        <p:nvPicPr>
          <p:cNvPr id="1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62979" y="2393899"/>
            <a:ext cx="332842" cy="332842"/>
          </a:xfrm>
          <a:prstGeom prst="rect">
            <a:avLst/>
          </a:prstGeom>
        </p:spPr>
      </p:pic>
      <p:sp>
        <p:nvSpPr>
          <p:cNvPr id="13" name="Text 9"/>
          <p:cNvSpPr txBox="1"/>
          <p:nvPr/>
        </p:nvSpPr>
        <p:spPr>
          <a:xfrm>
            <a:off x="7178040" y="2194560"/>
            <a:ext cx="44348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rgbClr val="14313D"/>
                </a:solidFill>
              </a:rPr>
              <a:t>Symptoms build silently for weeks</a:t>
            </a:r>
            <a:endParaRPr lang="en-US" sz="1600" dirty="0"/>
          </a:p>
          <a:p>
            <a:pPr marL="0" indent="0">
              <a:buNone/>
            </a:pPr>
            <a:r>
              <a:rPr lang="en-US" sz="1400" dirty="0">
                <a:solidFill>
                  <a:srgbClr val="5B6B73"/>
                </a:solidFill>
              </a:rPr>
              <a:t>Sleep, energy, activity and social contact change before anyone names it</a:t>
            </a:r>
            <a:endParaRPr lang="en-US" sz="1600" dirty="0"/>
          </a:p>
        </p:txBody>
      </p:sp>
      <p:sp>
        <p:nvSpPr>
          <p:cNvPr id="14" name="Shape 10"/>
          <p:cNvSpPr/>
          <p:nvPr/>
        </p:nvSpPr>
        <p:spPr>
          <a:xfrm>
            <a:off x="6309360" y="3429000"/>
            <a:ext cx="640080" cy="640080"/>
          </a:xfrm>
          <a:prstGeom prst="ellipse">
            <a:avLst/>
          </a:prstGeom>
          <a:solidFill>
            <a:srgbClr val="0F6E6E"/>
          </a:solidFill>
          <a:ln w="12700">
            <a:solidFill>
              <a:srgbClr val="0F6E6E"/>
            </a:solidFill>
            <a:prstDash val="solid"/>
          </a:ln>
        </p:spPr>
      </p:sp>
      <p:pic>
        <p:nvPicPr>
          <p:cNvPr id="15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62979" y="3582619"/>
            <a:ext cx="332842" cy="332842"/>
          </a:xfrm>
          <a:prstGeom prst="rect">
            <a:avLst/>
          </a:prstGeom>
        </p:spPr>
      </p:pic>
      <p:sp>
        <p:nvSpPr>
          <p:cNvPr id="16" name="Text 11"/>
          <p:cNvSpPr txBox="1"/>
          <p:nvPr/>
        </p:nvSpPr>
        <p:spPr>
          <a:xfrm>
            <a:off x="7178040" y="3383280"/>
            <a:ext cx="44348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rgbClr val="14313D"/>
                </a:solidFill>
              </a:rPr>
              <a:t>Help-seeking is slow</a:t>
            </a:r>
            <a:endParaRPr lang="en-US" sz="1600" dirty="0"/>
          </a:p>
          <a:p>
            <a:pPr marL="0" indent="0">
              <a:buNone/>
            </a:pPr>
            <a:r>
              <a:rPr lang="en-US" sz="1400" dirty="0">
                <a:solidFill>
                  <a:srgbClr val="5B6B73"/>
                </a:solidFill>
              </a:rPr>
              <a:t>Stigma and few counsellors mean diagnosis often comes well into an episode</a:t>
            </a:r>
            <a:endParaRPr lang="en-US" sz="1600" dirty="0"/>
          </a:p>
        </p:txBody>
      </p:sp>
      <p:sp>
        <p:nvSpPr>
          <p:cNvPr id="17" name="Shape 12"/>
          <p:cNvSpPr/>
          <p:nvPr/>
        </p:nvSpPr>
        <p:spPr>
          <a:xfrm>
            <a:off x="6309360" y="4617720"/>
            <a:ext cx="640080" cy="640080"/>
          </a:xfrm>
          <a:prstGeom prst="ellipse">
            <a:avLst/>
          </a:prstGeom>
          <a:solidFill>
            <a:srgbClr val="0F6E6E"/>
          </a:solidFill>
          <a:ln w="12700">
            <a:solidFill>
              <a:srgbClr val="0F6E6E"/>
            </a:solidFill>
            <a:prstDash val="solid"/>
          </a:ln>
        </p:spPr>
      </p:sp>
      <p:pic>
        <p:nvPicPr>
          <p:cNvPr id="18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62979" y="4771339"/>
            <a:ext cx="332842" cy="332842"/>
          </a:xfrm>
          <a:prstGeom prst="rect">
            <a:avLst/>
          </a:prstGeom>
        </p:spPr>
      </p:pic>
      <p:sp>
        <p:nvSpPr>
          <p:cNvPr id="19" name="Text 13"/>
          <p:cNvSpPr txBox="1"/>
          <p:nvPr/>
        </p:nvSpPr>
        <p:spPr>
          <a:xfrm>
            <a:off x="7178040" y="4572000"/>
            <a:ext cx="44348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rgbClr val="14313D"/>
                </a:solidFill>
              </a:rPr>
              <a:t>Nobody watches daily signals</a:t>
            </a:r>
            <a:endParaRPr lang="en-US" sz="1600" dirty="0"/>
          </a:p>
          <a:p>
            <a:pPr marL="0" indent="0">
              <a:buNone/>
            </a:pPr>
            <a:r>
              <a:rPr lang="en-US" sz="1400" dirty="0">
                <a:solidFill>
                  <a:srgbClr val="5B6B73"/>
                </a:solidFill>
              </a:rPr>
              <a:t>Wearables and phones already record the build-up, but no one reads it for the person</a:t>
            </a:r>
            <a:endParaRPr lang="en-US" sz="1600" dirty="0"/>
          </a:p>
        </p:txBody>
      </p:sp>
      <p:sp>
        <p:nvSpPr>
          <p:cNvPr id="20" name="Text 14"/>
          <p:cNvSpPr txBox="1"/>
          <p:nvPr/>
        </p:nvSpPr>
        <p:spPr>
          <a:xfrm>
            <a:off x="548640" y="6053328"/>
            <a:ext cx="11064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5B6B73"/>
                </a:solidFill>
              </a:rPr>
              <a:t>Verified fact: NIMHANS, National Mental Health Survey of India 2015–16 (34,802 adults, 12 states). Right panel: problem framing.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4652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5B6B73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347472"/>
            <a:ext cx="11064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8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Everyone's 'normal' is different, so one population cut-off flags the wrong person</a:t>
            </a:r>
            <a:endParaRPr lang="en-US" sz="2800" dirty="0"/>
          </a:p>
        </p:txBody>
      </p:sp>
      <p:graphicFrame>
        <p:nvGraphicFramePr>
          <p:cNvPr id="4" name="Chart 0"/>
          <p:cNvGraphicFramePr/>
          <p:nvPr/>
        </p:nvGraphicFramePr>
        <p:xfrm>
          <a:off x="548640" y="1508760"/>
          <a:ext cx="6949440" cy="43891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5" name="Shape 1"/>
          <p:cNvSpPr/>
          <p:nvPr/>
        </p:nvSpPr>
        <p:spPr>
          <a:xfrm>
            <a:off x="7863840" y="1600200"/>
            <a:ext cx="3749040" cy="1965960"/>
          </a:xfrm>
          <a:prstGeom prst="roundRect">
            <a:avLst>
              <a:gd name="adj" fmla="val 4651"/>
            </a:avLst>
          </a:prstGeom>
          <a:solidFill>
            <a:srgbClr val="F8E6E2"/>
          </a:solidFill>
          <a:ln w="12700">
            <a:solidFill>
              <a:srgbClr val="F8E6E2"/>
            </a:solidFill>
            <a:prstDash val="solid"/>
          </a:ln>
        </p:spPr>
      </p:sp>
      <p:sp>
        <p:nvSpPr>
          <p:cNvPr id="6" name="Text 2"/>
          <p:cNvSpPr txBox="1"/>
          <p:nvPr/>
        </p:nvSpPr>
        <p:spPr>
          <a:xfrm>
            <a:off x="8092440" y="1783080"/>
            <a:ext cx="329184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rgbClr val="14313D"/>
                </a:solidFill>
              </a:rPr>
              <a:t>Person A: above the cut-off, heading into an episode</a:t>
            </a:r>
            <a:endParaRPr lang="en-US" sz="1500" dirty="0"/>
          </a:p>
          <a:p>
            <a:pPr marL="0" indent="0">
              <a:buNone/>
            </a:pPr>
            <a:r>
              <a:rPr lang="en-US" sz="1400" dirty="0">
                <a:solidFill>
                  <a:srgbClr val="5B6B73"/>
                </a:solidFill>
              </a:rPr>
              <a:t>Sleep fell almost an hour below their own normal. Twin: Early warning, 6.43% risk (7× typical).</a:t>
            </a:r>
            <a:endParaRPr lang="en-US" sz="1500" dirty="0"/>
          </a:p>
        </p:txBody>
      </p:sp>
      <p:sp>
        <p:nvSpPr>
          <p:cNvPr id="7" name="Shape 3"/>
          <p:cNvSpPr/>
          <p:nvPr/>
        </p:nvSpPr>
        <p:spPr>
          <a:xfrm>
            <a:off x="7863840" y="3749040"/>
            <a:ext cx="3749040" cy="1965960"/>
          </a:xfrm>
          <a:prstGeom prst="roundRect">
            <a:avLst>
              <a:gd name="adj" fmla="val 4651"/>
            </a:avLst>
          </a:prstGeom>
          <a:solidFill>
            <a:srgbClr val="EAF3F2"/>
          </a:solidFill>
          <a:ln w="12700">
            <a:solidFill>
              <a:srgbClr val="EAF3F2"/>
            </a:solidFill>
            <a:prstDash val="solid"/>
          </a:ln>
        </p:spPr>
      </p:sp>
      <p:sp>
        <p:nvSpPr>
          <p:cNvPr id="8" name="Text 4"/>
          <p:cNvSpPr txBox="1"/>
          <p:nvPr/>
        </p:nvSpPr>
        <p:spPr>
          <a:xfrm>
            <a:off x="8092440" y="3931920"/>
            <a:ext cx="329184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rgbClr val="14313D"/>
                </a:solidFill>
              </a:rPr>
              <a:t>Person B: below the cut-off, but stable</a:t>
            </a:r>
            <a:endParaRPr lang="en-US" sz="1500" dirty="0"/>
          </a:p>
          <a:p>
            <a:pPr marL="0" indent="0">
              <a:buNone/>
            </a:pPr>
            <a:r>
              <a:rPr lang="en-US" sz="1400" dirty="0">
                <a:solidFill>
                  <a:srgbClr val="5B6B73"/>
                </a:solidFill>
              </a:rPr>
              <a:t>A natural short sleeper. Twin risk never above 0.5%.</a:t>
            </a:r>
            <a:endParaRPr lang="en-US" sz="1500" dirty="0"/>
          </a:p>
        </p:txBody>
      </p:sp>
      <p:sp>
        <p:nvSpPr>
          <p:cNvPr id="9" name="Text 5"/>
          <p:cNvSpPr txBox="1"/>
          <p:nvPr/>
        </p:nvSpPr>
        <p:spPr>
          <a:xfrm>
            <a:off x="548640" y="6053328"/>
            <a:ext cx="11064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5B6B73"/>
                </a:solidFill>
              </a:rPr>
              <a:t>Synthetic held-out test patients MT0441 (A) and MT0178 (B), 2 Mar – 6 May. The 6 h cut-off is illustrative.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4652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5B6B73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347472"/>
            <a:ext cx="11064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8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twin does four things for each person: mirror, predict, explain, simulate</a:t>
            </a:r>
            <a:endParaRPr lang="en-US" sz="2800" dirty="0"/>
          </a:p>
        </p:txBody>
      </p:sp>
      <p:sp>
        <p:nvSpPr>
          <p:cNvPr id="4" name="Shape 1"/>
          <p:cNvSpPr/>
          <p:nvPr/>
        </p:nvSpPr>
        <p:spPr>
          <a:xfrm>
            <a:off x="548640" y="1600200"/>
            <a:ext cx="2606040" cy="3291840"/>
          </a:xfrm>
          <a:prstGeom prst="roundRect">
            <a:avLst>
              <a:gd name="adj" fmla="val 3509"/>
            </a:avLst>
          </a:prstGeom>
          <a:solidFill>
            <a:srgbClr val="EAF3F2"/>
          </a:solidFill>
          <a:ln w="12700">
            <a:solidFill>
              <a:srgbClr val="EAF3F2"/>
            </a:solidFill>
            <a:prstDash val="solid"/>
          </a:ln>
        </p:spPr>
      </p:sp>
      <p:sp>
        <p:nvSpPr>
          <p:cNvPr id="5" name="Shape 2"/>
          <p:cNvSpPr/>
          <p:nvPr/>
        </p:nvSpPr>
        <p:spPr>
          <a:xfrm>
            <a:off x="822960" y="1874520"/>
            <a:ext cx="777240" cy="777240"/>
          </a:xfrm>
          <a:prstGeom prst="ellipse">
            <a:avLst/>
          </a:prstGeom>
          <a:solidFill>
            <a:srgbClr val="0F6E6E"/>
          </a:solidFill>
          <a:ln w="12700">
            <a:solidFill>
              <a:srgbClr val="0F6E6E"/>
            </a:solidFill>
            <a:prstDash val="solid"/>
          </a:ln>
        </p:spPr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9498" y="2061058"/>
            <a:ext cx="404165" cy="404165"/>
          </a:xfrm>
          <a:prstGeom prst="rect">
            <a:avLst/>
          </a:prstGeom>
        </p:spPr>
      </p:pic>
      <p:sp>
        <p:nvSpPr>
          <p:cNvPr id="7" name="Text 3"/>
          <p:cNvSpPr txBox="1"/>
          <p:nvPr/>
        </p:nvSpPr>
        <p:spPr>
          <a:xfrm>
            <a:off x="822960" y="2834640"/>
            <a:ext cx="2103120" cy="1965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400"/>
              </a:spcAft>
              <a:buNone/>
            </a:pPr>
            <a:r>
              <a:rPr lang="en-US" sz="2000" b="1" dirty="0">
                <a:solidFill>
                  <a:srgbClr val="14313D"/>
                </a:solidFill>
              </a:rPr>
              <a:t>Mirror</a:t>
            </a:r>
            <a:endParaRPr lang="en-US" sz="20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400" dirty="0">
                <a:solidFill>
                  <a:srgbClr val="5B6B73"/>
                </a:solidFill>
              </a:rPr>
              <a:t>Compares your last 3 and 7 days with your own 45-day normal across 8 signals, plus a single Drift Index</a:t>
            </a:r>
            <a:endParaRPr lang="en-US" sz="2000" dirty="0"/>
          </a:p>
        </p:txBody>
      </p:sp>
      <p:sp>
        <p:nvSpPr>
          <p:cNvPr id="8" name="Shape 4"/>
          <p:cNvSpPr/>
          <p:nvPr/>
        </p:nvSpPr>
        <p:spPr>
          <a:xfrm>
            <a:off x="3364992" y="1600200"/>
            <a:ext cx="2606040" cy="3291840"/>
          </a:xfrm>
          <a:prstGeom prst="roundRect">
            <a:avLst>
              <a:gd name="adj" fmla="val 3509"/>
            </a:avLst>
          </a:prstGeom>
          <a:solidFill>
            <a:srgbClr val="F8E6E2"/>
          </a:solidFill>
          <a:ln w="12700">
            <a:solidFill>
              <a:srgbClr val="F8E6E2"/>
            </a:solidFill>
            <a:prstDash val="solid"/>
          </a:ln>
        </p:spPr>
      </p:sp>
      <p:sp>
        <p:nvSpPr>
          <p:cNvPr id="9" name="Shape 5"/>
          <p:cNvSpPr/>
          <p:nvPr/>
        </p:nvSpPr>
        <p:spPr>
          <a:xfrm>
            <a:off x="3639312" y="1874520"/>
            <a:ext cx="777240" cy="777240"/>
          </a:xfrm>
          <a:prstGeom prst="ellipse">
            <a:avLst/>
          </a:prstGeom>
          <a:solidFill>
            <a:srgbClr val="C8553D"/>
          </a:solidFill>
          <a:ln w="12700">
            <a:solidFill>
              <a:srgbClr val="C8553D"/>
            </a:solidFill>
            <a:prstDash val="solid"/>
          </a:ln>
        </p:spPr>
      </p:sp>
      <p:pic>
        <p:nvPicPr>
          <p:cNvPr id="10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825850" y="2061058"/>
            <a:ext cx="404165" cy="404165"/>
          </a:xfrm>
          <a:prstGeom prst="rect">
            <a:avLst/>
          </a:prstGeom>
        </p:spPr>
      </p:pic>
      <p:sp>
        <p:nvSpPr>
          <p:cNvPr id="11" name="Text 6"/>
          <p:cNvSpPr txBox="1"/>
          <p:nvPr/>
        </p:nvSpPr>
        <p:spPr>
          <a:xfrm>
            <a:off x="3639312" y="2834640"/>
            <a:ext cx="2103120" cy="1965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400"/>
              </a:spcAft>
              <a:buNone/>
            </a:pPr>
            <a:r>
              <a:rPr lang="en-US" sz="2000" b="1" dirty="0">
                <a:solidFill>
                  <a:srgbClr val="14313D"/>
                </a:solidFill>
              </a:rPr>
              <a:t>Predict</a:t>
            </a:r>
            <a:endParaRPr lang="en-US" sz="20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400" dirty="0">
                <a:solidFill>
                  <a:srgbClr val="5B6B73"/>
                </a:solidFill>
              </a:rPr>
              <a:t>Probability that a depressive episode begins within the next 7 days, updated every day</a:t>
            </a:r>
            <a:endParaRPr lang="en-US" sz="2000" dirty="0"/>
          </a:p>
        </p:txBody>
      </p:sp>
      <p:sp>
        <p:nvSpPr>
          <p:cNvPr id="12" name="Shape 7"/>
          <p:cNvSpPr/>
          <p:nvPr/>
        </p:nvSpPr>
        <p:spPr>
          <a:xfrm>
            <a:off x="6181344" y="1600200"/>
            <a:ext cx="2606040" cy="3291840"/>
          </a:xfrm>
          <a:prstGeom prst="roundRect">
            <a:avLst>
              <a:gd name="adj" fmla="val 3509"/>
            </a:avLst>
          </a:prstGeom>
          <a:solidFill>
            <a:srgbClr val="EAF3F2"/>
          </a:solidFill>
          <a:ln w="12700">
            <a:solidFill>
              <a:srgbClr val="EAF3F2"/>
            </a:solidFill>
            <a:prstDash val="solid"/>
          </a:ln>
        </p:spPr>
      </p:sp>
      <p:sp>
        <p:nvSpPr>
          <p:cNvPr id="13" name="Shape 8"/>
          <p:cNvSpPr/>
          <p:nvPr/>
        </p:nvSpPr>
        <p:spPr>
          <a:xfrm>
            <a:off x="6455664" y="1874520"/>
            <a:ext cx="777240" cy="777240"/>
          </a:xfrm>
          <a:prstGeom prst="ellipse">
            <a:avLst/>
          </a:prstGeom>
          <a:solidFill>
            <a:srgbClr val="0F6E6E"/>
          </a:solidFill>
          <a:ln w="12700">
            <a:solidFill>
              <a:srgbClr val="0F6E6E"/>
            </a:solidFill>
            <a:prstDash val="solid"/>
          </a:ln>
        </p:spPr>
      </p:sp>
      <p:pic>
        <p:nvPicPr>
          <p:cNvPr id="14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42202" y="2061058"/>
            <a:ext cx="404165" cy="404165"/>
          </a:xfrm>
          <a:prstGeom prst="rect">
            <a:avLst/>
          </a:prstGeom>
        </p:spPr>
      </p:pic>
      <p:sp>
        <p:nvSpPr>
          <p:cNvPr id="15" name="Text 9"/>
          <p:cNvSpPr txBox="1"/>
          <p:nvPr/>
        </p:nvSpPr>
        <p:spPr>
          <a:xfrm>
            <a:off x="6455664" y="2834640"/>
            <a:ext cx="2103120" cy="1965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400"/>
              </a:spcAft>
              <a:buNone/>
            </a:pPr>
            <a:r>
              <a:rPr lang="en-US" sz="2000" b="1" dirty="0">
                <a:solidFill>
                  <a:srgbClr val="14313D"/>
                </a:solidFill>
              </a:rPr>
              <a:t>Explain</a:t>
            </a:r>
            <a:endParaRPr lang="en-US" sz="20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400" dirty="0">
                <a:solidFill>
                  <a:srgbClr val="5B6B73"/>
                </a:solidFill>
              </a:rPr>
              <a:t>Top reasons in plain language: "steps 18% below usual", "54 min less sleep" (SHAP)</a:t>
            </a:r>
            <a:endParaRPr lang="en-US" sz="2000" dirty="0"/>
          </a:p>
        </p:txBody>
      </p:sp>
      <p:sp>
        <p:nvSpPr>
          <p:cNvPr id="16" name="Shape 10"/>
          <p:cNvSpPr/>
          <p:nvPr/>
        </p:nvSpPr>
        <p:spPr>
          <a:xfrm>
            <a:off x="8997696" y="1600200"/>
            <a:ext cx="2606040" cy="3291840"/>
          </a:xfrm>
          <a:prstGeom prst="roundRect">
            <a:avLst>
              <a:gd name="adj" fmla="val 3509"/>
            </a:avLst>
          </a:prstGeom>
          <a:solidFill>
            <a:srgbClr val="EAF3F2"/>
          </a:solidFill>
          <a:ln w="12700">
            <a:solidFill>
              <a:srgbClr val="EAF3F2"/>
            </a:solidFill>
            <a:prstDash val="solid"/>
          </a:ln>
        </p:spPr>
      </p:sp>
      <p:sp>
        <p:nvSpPr>
          <p:cNvPr id="17" name="Shape 11"/>
          <p:cNvSpPr/>
          <p:nvPr/>
        </p:nvSpPr>
        <p:spPr>
          <a:xfrm>
            <a:off x="9272016" y="1874520"/>
            <a:ext cx="777240" cy="777240"/>
          </a:xfrm>
          <a:prstGeom prst="ellipse">
            <a:avLst/>
          </a:prstGeom>
          <a:solidFill>
            <a:srgbClr val="0F6E6E"/>
          </a:solidFill>
          <a:ln w="12700">
            <a:solidFill>
              <a:srgbClr val="0F6E6E"/>
            </a:solidFill>
            <a:prstDash val="solid"/>
          </a:ln>
        </p:spPr>
      </p:sp>
      <p:pic>
        <p:nvPicPr>
          <p:cNvPr id="18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458554" y="2061058"/>
            <a:ext cx="404165" cy="404165"/>
          </a:xfrm>
          <a:prstGeom prst="rect">
            <a:avLst/>
          </a:prstGeom>
        </p:spPr>
      </p:pic>
      <p:sp>
        <p:nvSpPr>
          <p:cNvPr id="19" name="Text 12"/>
          <p:cNvSpPr txBox="1"/>
          <p:nvPr/>
        </p:nvSpPr>
        <p:spPr>
          <a:xfrm>
            <a:off x="9272016" y="2834640"/>
            <a:ext cx="2103120" cy="1965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400"/>
              </a:spcAft>
              <a:buNone/>
            </a:pPr>
            <a:r>
              <a:rPr lang="en-US" sz="2000" b="1" dirty="0">
                <a:solidFill>
                  <a:srgbClr val="14313D"/>
                </a:solidFill>
              </a:rPr>
              <a:t>Simulate</a:t>
            </a:r>
            <a:endParaRPr lang="en-US" sz="20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400" dirty="0">
                <a:solidFill>
                  <a:srgbClr val="5B6B73"/>
                </a:solidFill>
              </a:rPr>
              <a:t>What-if: change sleep, bedtime, steps, screen time or social contact and re-run the twin</a:t>
            </a:r>
            <a:endParaRPr lang="en-US" sz="2000" dirty="0"/>
          </a:p>
        </p:txBody>
      </p:sp>
      <p:sp>
        <p:nvSpPr>
          <p:cNvPr id="20" name="Text 13"/>
          <p:cNvSpPr txBox="1"/>
          <p:nvPr/>
        </p:nvSpPr>
        <p:spPr>
          <a:xfrm>
            <a:off x="548640" y="5257800"/>
            <a:ext cx="914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4313D"/>
                </a:solidFill>
              </a:rPr>
              <a:t>Signals:</a:t>
            </a:r>
            <a:endParaRPr lang="en-US" sz="1400" dirty="0"/>
          </a:p>
        </p:txBody>
      </p:sp>
      <p:sp>
        <p:nvSpPr>
          <p:cNvPr id="21" name="Shape 14"/>
          <p:cNvSpPr/>
          <p:nvPr/>
        </p:nvSpPr>
        <p:spPr>
          <a:xfrm>
            <a:off x="1463040" y="5257800"/>
            <a:ext cx="411480" cy="411480"/>
          </a:xfrm>
          <a:prstGeom prst="ellipse">
            <a:avLst/>
          </a:prstGeom>
          <a:solidFill>
            <a:srgbClr val="5B6B73"/>
          </a:solidFill>
          <a:ln w="12700">
            <a:solidFill>
              <a:srgbClr val="5B6B73"/>
            </a:solidFill>
            <a:prstDash val="solid"/>
          </a:ln>
        </p:spPr>
      </p:sp>
      <p:pic>
        <p:nvPicPr>
          <p:cNvPr id="22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561795" y="5356555"/>
            <a:ext cx="213970" cy="213970"/>
          </a:xfrm>
          <a:prstGeom prst="rect">
            <a:avLst/>
          </a:prstGeom>
        </p:spPr>
      </p:pic>
      <p:sp>
        <p:nvSpPr>
          <p:cNvPr id="23" name="Text 15"/>
          <p:cNvSpPr txBox="1"/>
          <p:nvPr/>
        </p:nvSpPr>
        <p:spPr>
          <a:xfrm>
            <a:off x="1965960" y="5257800"/>
            <a:ext cx="2651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4313D"/>
                </a:solidFill>
              </a:rPr>
              <a:t>Sleep duration, onset, efficiency</a:t>
            </a:r>
            <a:endParaRPr lang="en-US" sz="1300" dirty="0"/>
          </a:p>
        </p:txBody>
      </p:sp>
      <p:sp>
        <p:nvSpPr>
          <p:cNvPr id="24" name="Shape 16"/>
          <p:cNvSpPr/>
          <p:nvPr/>
        </p:nvSpPr>
        <p:spPr>
          <a:xfrm>
            <a:off x="4754880" y="5257800"/>
            <a:ext cx="411480" cy="411480"/>
          </a:xfrm>
          <a:prstGeom prst="ellipse">
            <a:avLst/>
          </a:prstGeom>
          <a:solidFill>
            <a:srgbClr val="5B6B73"/>
          </a:solidFill>
          <a:ln w="12700">
            <a:solidFill>
              <a:srgbClr val="5B6B73"/>
            </a:solidFill>
            <a:prstDash val="solid"/>
          </a:ln>
        </p:spPr>
      </p:sp>
      <p:pic>
        <p:nvPicPr>
          <p:cNvPr id="25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853635" y="5356555"/>
            <a:ext cx="213970" cy="213970"/>
          </a:xfrm>
          <a:prstGeom prst="rect">
            <a:avLst/>
          </a:prstGeom>
        </p:spPr>
      </p:pic>
      <p:sp>
        <p:nvSpPr>
          <p:cNvPr id="26" name="Text 17"/>
          <p:cNvSpPr txBox="1"/>
          <p:nvPr/>
        </p:nvSpPr>
        <p:spPr>
          <a:xfrm>
            <a:off x="5257800" y="5257800"/>
            <a:ext cx="1600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4313D"/>
                </a:solidFill>
              </a:rPr>
              <a:t>Resting HR, HRV</a:t>
            </a:r>
            <a:endParaRPr lang="en-US" sz="1300" dirty="0"/>
          </a:p>
        </p:txBody>
      </p:sp>
      <p:sp>
        <p:nvSpPr>
          <p:cNvPr id="27" name="Shape 18"/>
          <p:cNvSpPr/>
          <p:nvPr/>
        </p:nvSpPr>
        <p:spPr>
          <a:xfrm>
            <a:off x="6995160" y="5257800"/>
            <a:ext cx="411480" cy="411480"/>
          </a:xfrm>
          <a:prstGeom prst="ellipse">
            <a:avLst/>
          </a:prstGeom>
          <a:solidFill>
            <a:srgbClr val="5B6B73"/>
          </a:solidFill>
          <a:ln w="12700">
            <a:solidFill>
              <a:srgbClr val="5B6B73"/>
            </a:solidFill>
            <a:prstDash val="solid"/>
          </a:ln>
        </p:spPr>
      </p:sp>
      <p:pic>
        <p:nvPicPr>
          <p:cNvPr id="28" name="Image 6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093915" y="5356555"/>
            <a:ext cx="213970" cy="213970"/>
          </a:xfrm>
          <a:prstGeom prst="rect">
            <a:avLst/>
          </a:prstGeom>
        </p:spPr>
      </p:pic>
      <p:sp>
        <p:nvSpPr>
          <p:cNvPr id="29" name="Text 19"/>
          <p:cNvSpPr txBox="1"/>
          <p:nvPr/>
        </p:nvSpPr>
        <p:spPr>
          <a:xfrm>
            <a:off x="7498080" y="5257800"/>
            <a:ext cx="1371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4313D"/>
                </a:solidFill>
              </a:rPr>
              <a:t>Daily steps</a:t>
            </a:r>
            <a:endParaRPr lang="en-US" sz="1300" dirty="0"/>
          </a:p>
        </p:txBody>
      </p:sp>
      <p:sp>
        <p:nvSpPr>
          <p:cNvPr id="30" name="Shape 20"/>
          <p:cNvSpPr/>
          <p:nvPr/>
        </p:nvSpPr>
        <p:spPr>
          <a:xfrm>
            <a:off x="9006840" y="5257800"/>
            <a:ext cx="411480" cy="411480"/>
          </a:xfrm>
          <a:prstGeom prst="ellipse">
            <a:avLst/>
          </a:prstGeom>
          <a:solidFill>
            <a:srgbClr val="5B6B73"/>
          </a:solidFill>
          <a:ln w="12700">
            <a:solidFill>
              <a:srgbClr val="5B6B73"/>
            </a:solidFill>
            <a:prstDash val="solid"/>
          </a:ln>
        </p:spPr>
      </p:sp>
      <p:pic>
        <p:nvPicPr>
          <p:cNvPr id="31" name="Image 7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9105595" y="5356555"/>
            <a:ext cx="213970" cy="213970"/>
          </a:xfrm>
          <a:prstGeom prst="rect">
            <a:avLst/>
          </a:prstGeom>
        </p:spPr>
      </p:pic>
      <p:sp>
        <p:nvSpPr>
          <p:cNvPr id="32" name="Text 21"/>
          <p:cNvSpPr txBox="1"/>
          <p:nvPr/>
        </p:nvSpPr>
        <p:spPr>
          <a:xfrm>
            <a:off x="9509760" y="5257800"/>
            <a:ext cx="3291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4313D"/>
                </a:solidFill>
              </a:rPr>
              <a:t>Late-night screen time, social contacts</a:t>
            </a:r>
            <a:endParaRPr lang="en-US" sz="1300" dirty="0"/>
          </a:p>
        </p:txBody>
      </p:sp>
      <p:sp>
        <p:nvSpPr>
          <p:cNvPr id="33" name="Text 22"/>
          <p:cNvSpPr txBox="1"/>
          <p:nvPr/>
        </p:nvSpPr>
        <p:spPr>
          <a:xfrm>
            <a:off x="548640" y="5715000"/>
            <a:ext cx="11064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5B6B73"/>
                </a:solidFill>
              </a:rPr>
              <a:t>+ health record: PHQ-9, prior episodes, family history, medication, comorbidities · exam / work-crunch calendar</a:t>
            </a:r>
            <a:endParaRPr lang="en-US" sz="1300" dirty="0"/>
          </a:p>
        </p:txBody>
      </p:sp>
      <p:sp>
        <p:nvSpPr>
          <p:cNvPr id="3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4652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5B6B73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11480" y="27432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Manas Twin: reference architecture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411480" y="786384"/>
            <a:ext cx="11338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chemeClr val="accent5"/>
                </a:solidFill>
              </a:rPr>
              <a:t>Everyday wearable + phone data and the health record flow through a consent layer into a per-person twin that mirrors, predicts, explains and simulates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411480" y="1371600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50" dirty="0">
                <a:solidFill>
                  <a:srgbClr val="0F6E6E"/>
                </a:solidFill>
              </a:rPr>
              <a:t>1 · DATA SOURCES</a:t>
            </a:r>
            <a:endParaRPr lang="en-US" sz="1100" dirty="0"/>
          </a:p>
        </p:txBody>
      </p:sp>
      <p:sp>
        <p:nvSpPr>
          <p:cNvPr id="5" name="card_Wearable"/>
          <p:cNvSpPr/>
          <p:nvPr/>
        </p:nvSpPr>
        <p:spPr>
          <a:xfrm>
            <a:off x="411480" y="1783080"/>
            <a:ext cx="2103120" cy="896112"/>
          </a:xfrm>
          <a:prstGeom prst="roundRect">
            <a:avLst>
              <a:gd name="adj" fmla="val 8163"/>
            </a:avLst>
          </a:prstGeom>
          <a:solidFill>
            <a:srgbClr val="FFFFFF"/>
          </a:solidFill>
          <a:ln w="12700">
            <a:solidFill>
              <a:srgbClr val="B9C4C4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30352" y="1911096"/>
            <a:ext cx="347472" cy="347472"/>
          </a:xfrm>
          <a:prstGeom prst="ellipse">
            <a:avLst/>
          </a:prstGeom>
          <a:solidFill>
            <a:srgbClr val="0F6E6E"/>
          </a:solidFill>
          <a:ln w="12700">
            <a:solidFill>
              <a:srgbClr val="0F6E6E"/>
            </a:solidFill>
            <a:prstDash val="solid"/>
          </a:ln>
        </p:spPr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3504" y="1984248"/>
            <a:ext cx="201168" cy="201168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978408" y="1856232"/>
            <a:ext cx="144475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200"/>
              </a:spcAft>
              <a:buNone/>
            </a:pPr>
            <a:r>
              <a:rPr lang="en-US" sz="1200" b="1" dirty="0">
                <a:solidFill>
                  <a:srgbClr val="14313D"/>
                </a:solidFill>
              </a:rPr>
              <a:t>Wearable</a:t>
            </a:r>
            <a:endParaRPr lang="en-US" sz="120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1000" dirty="0">
                <a:solidFill>
                  <a:srgbClr val="5B6B73"/>
                </a:solidFill>
              </a:rPr>
              <a:t>Sleep, sleep onset &amp; efficiency, resting HR, HRV, steps</a:t>
            </a:r>
            <a:endParaRPr lang="en-US" sz="1200" dirty="0"/>
          </a:p>
        </p:txBody>
      </p:sp>
      <p:sp>
        <p:nvSpPr>
          <p:cNvPr id="9" name="card_Smartphone"/>
          <p:cNvSpPr/>
          <p:nvPr/>
        </p:nvSpPr>
        <p:spPr>
          <a:xfrm>
            <a:off x="411480" y="2834640"/>
            <a:ext cx="2103120" cy="896112"/>
          </a:xfrm>
          <a:prstGeom prst="roundRect">
            <a:avLst>
              <a:gd name="adj" fmla="val 8163"/>
            </a:avLst>
          </a:prstGeom>
          <a:solidFill>
            <a:srgbClr val="FFFFFF"/>
          </a:solidFill>
          <a:ln w="12700">
            <a:solidFill>
              <a:srgbClr val="B9C4C4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530352" y="2962656"/>
            <a:ext cx="347472" cy="347472"/>
          </a:xfrm>
          <a:prstGeom prst="ellipse">
            <a:avLst/>
          </a:prstGeom>
          <a:solidFill>
            <a:srgbClr val="0F6E6E"/>
          </a:solidFill>
          <a:ln w="12700">
            <a:solidFill>
              <a:srgbClr val="0F6E6E"/>
            </a:solidFill>
            <a:prstDash val="solid"/>
          </a:ln>
        </p:spPr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3504" y="3035808"/>
            <a:ext cx="201168" cy="201168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978408" y="2907792"/>
            <a:ext cx="144475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200"/>
              </a:spcAft>
              <a:buNone/>
            </a:pPr>
            <a:r>
              <a:rPr lang="en-US" sz="1200" b="1" dirty="0">
                <a:solidFill>
                  <a:srgbClr val="14313D"/>
                </a:solidFill>
              </a:rPr>
              <a:t>Smartphone</a:t>
            </a:r>
            <a:endParaRPr lang="en-US" sz="120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1000" dirty="0">
                <a:solidFill>
                  <a:srgbClr val="5B6B73"/>
                </a:solidFill>
              </a:rPr>
              <a:t>Late-night screen time, social contacts (counts only)</a:t>
            </a:r>
            <a:endParaRPr lang="en-US" sz="1200" dirty="0"/>
          </a:p>
        </p:txBody>
      </p:sp>
      <p:sp>
        <p:nvSpPr>
          <p:cNvPr id="13" name="card_Health record"/>
          <p:cNvSpPr/>
          <p:nvPr/>
        </p:nvSpPr>
        <p:spPr>
          <a:xfrm>
            <a:off x="411480" y="3886200"/>
            <a:ext cx="2103120" cy="896112"/>
          </a:xfrm>
          <a:prstGeom prst="roundRect">
            <a:avLst>
              <a:gd name="adj" fmla="val 8163"/>
            </a:avLst>
          </a:prstGeom>
          <a:solidFill>
            <a:srgbClr val="FFFFFF"/>
          </a:solidFill>
          <a:ln w="12700">
            <a:solidFill>
              <a:srgbClr val="B9C4C4"/>
            </a:solidFill>
            <a:prstDash val="solid"/>
          </a:ln>
        </p:spPr>
      </p:sp>
      <p:sp>
        <p:nvSpPr>
          <p:cNvPr id="14" name="Shape 10"/>
          <p:cNvSpPr/>
          <p:nvPr/>
        </p:nvSpPr>
        <p:spPr>
          <a:xfrm>
            <a:off x="530352" y="4014216"/>
            <a:ext cx="347472" cy="347472"/>
          </a:xfrm>
          <a:prstGeom prst="ellipse">
            <a:avLst/>
          </a:prstGeom>
          <a:solidFill>
            <a:srgbClr val="0F6E6E"/>
          </a:solidFill>
          <a:ln w="12700">
            <a:solidFill>
              <a:srgbClr val="0F6E6E"/>
            </a:solidFill>
            <a:prstDash val="solid"/>
          </a:ln>
        </p:spPr>
      </p:sp>
      <p:pic>
        <p:nvPicPr>
          <p:cNvPr id="15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3504" y="4087368"/>
            <a:ext cx="201168" cy="201168"/>
          </a:xfrm>
          <a:prstGeom prst="rect">
            <a:avLst/>
          </a:prstGeom>
        </p:spPr>
      </p:pic>
      <p:sp>
        <p:nvSpPr>
          <p:cNvPr id="16" name="Text 11"/>
          <p:cNvSpPr txBox="1"/>
          <p:nvPr/>
        </p:nvSpPr>
        <p:spPr>
          <a:xfrm>
            <a:off x="978408" y="3959352"/>
            <a:ext cx="144475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200"/>
              </a:spcAft>
              <a:buNone/>
            </a:pPr>
            <a:r>
              <a:rPr lang="en-US" sz="1200" b="1" dirty="0">
                <a:solidFill>
                  <a:srgbClr val="14313D"/>
                </a:solidFill>
              </a:rPr>
              <a:t>Health record</a:t>
            </a:r>
            <a:endParaRPr lang="en-US" sz="120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1000" dirty="0">
                <a:solidFill>
                  <a:srgbClr val="5B6B73"/>
                </a:solidFill>
              </a:rPr>
              <a:t>PHQ-9, diagnoses (ICD-10), medication, history</a:t>
            </a:r>
            <a:endParaRPr lang="en-US" sz="1200" dirty="0"/>
          </a:p>
        </p:txBody>
      </p:sp>
      <p:sp>
        <p:nvSpPr>
          <p:cNvPr id="17" name="card_Context calendar"/>
          <p:cNvSpPr/>
          <p:nvPr/>
        </p:nvSpPr>
        <p:spPr>
          <a:xfrm>
            <a:off x="411480" y="4937760"/>
            <a:ext cx="2103120" cy="896112"/>
          </a:xfrm>
          <a:prstGeom prst="roundRect">
            <a:avLst>
              <a:gd name="adj" fmla="val 8163"/>
            </a:avLst>
          </a:prstGeom>
          <a:solidFill>
            <a:srgbClr val="FFFFFF"/>
          </a:solidFill>
          <a:ln w="12700">
            <a:solidFill>
              <a:srgbClr val="B9C4C4"/>
            </a:solidFill>
            <a:prstDash val="solid"/>
          </a:ln>
        </p:spPr>
      </p:sp>
      <p:sp>
        <p:nvSpPr>
          <p:cNvPr id="18" name="Shape 13"/>
          <p:cNvSpPr/>
          <p:nvPr/>
        </p:nvSpPr>
        <p:spPr>
          <a:xfrm>
            <a:off x="530352" y="5065776"/>
            <a:ext cx="347472" cy="347472"/>
          </a:xfrm>
          <a:prstGeom prst="ellipse">
            <a:avLst/>
          </a:prstGeom>
          <a:solidFill>
            <a:srgbClr val="0F6E6E"/>
          </a:solidFill>
          <a:ln w="12700">
            <a:solidFill>
              <a:srgbClr val="0F6E6E"/>
            </a:solidFill>
            <a:prstDash val="solid"/>
          </a:ln>
        </p:spPr>
      </p:sp>
      <p:pic>
        <p:nvPicPr>
          <p:cNvPr id="19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03504" y="5138928"/>
            <a:ext cx="201168" cy="201168"/>
          </a:xfrm>
          <a:prstGeom prst="rect">
            <a:avLst/>
          </a:prstGeom>
        </p:spPr>
      </p:pic>
      <p:sp>
        <p:nvSpPr>
          <p:cNvPr id="20" name="Text 14"/>
          <p:cNvSpPr txBox="1"/>
          <p:nvPr/>
        </p:nvSpPr>
        <p:spPr>
          <a:xfrm>
            <a:off x="978408" y="5010912"/>
            <a:ext cx="144475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200"/>
              </a:spcAft>
              <a:buNone/>
            </a:pPr>
            <a:r>
              <a:rPr lang="en-US" sz="1200" b="1" dirty="0">
                <a:solidFill>
                  <a:srgbClr val="14313D"/>
                </a:solidFill>
              </a:rPr>
              <a:t>Context calendar</a:t>
            </a:r>
            <a:endParaRPr lang="en-US" sz="120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1000" dirty="0">
                <a:solidFill>
                  <a:srgbClr val="5B6B73"/>
                </a:solidFill>
              </a:rPr>
              <a:t>Exam seasons, quarter-end and appraisal cycles</a:t>
            </a:r>
            <a:endParaRPr lang="en-US" sz="1200" dirty="0"/>
          </a:p>
        </p:txBody>
      </p:sp>
      <p:sp>
        <p:nvSpPr>
          <p:cNvPr id="21" name="Text 15"/>
          <p:cNvSpPr txBox="1"/>
          <p:nvPr/>
        </p:nvSpPr>
        <p:spPr>
          <a:xfrm>
            <a:off x="2834640" y="1371600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50" dirty="0">
                <a:solidFill>
                  <a:srgbClr val="0F6E6E"/>
                </a:solidFill>
              </a:rPr>
              <a:t>2 · CONSENT &amp; INGESTION</a:t>
            </a:r>
            <a:endParaRPr lang="en-US" sz="1100" dirty="0"/>
          </a:p>
        </p:txBody>
      </p:sp>
      <p:sp>
        <p:nvSpPr>
          <p:cNvPr id="22" name="card_Consent manager"/>
          <p:cNvSpPr/>
          <p:nvPr/>
        </p:nvSpPr>
        <p:spPr>
          <a:xfrm>
            <a:off x="2834640" y="1783080"/>
            <a:ext cx="2103120" cy="896112"/>
          </a:xfrm>
          <a:prstGeom prst="roundRect">
            <a:avLst>
              <a:gd name="adj" fmla="val 8163"/>
            </a:avLst>
          </a:prstGeom>
          <a:solidFill>
            <a:srgbClr val="FFFFFF"/>
          </a:solidFill>
          <a:ln w="12700">
            <a:solidFill>
              <a:srgbClr val="B9C4C4"/>
            </a:solidFill>
            <a:prstDash val="dash"/>
          </a:ln>
        </p:spPr>
      </p:sp>
      <p:sp>
        <p:nvSpPr>
          <p:cNvPr id="23" name="Shape 17"/>
          <p:cNvSpPr/>
          <p:nvPr/>
        </p:nvSpPr>
        <p:spPr>
          <a:xfrm>
            <a:off x="2953512" y="1911096"/>
            <a:ext cx="347472" cy="347472"/>
          </a:xfrm>
          <a:prstGeom prst="ellipse">
            <a:avLst/>
          </a:prstGeom>
          <a:solidFill>
            <a:srgbClr val="0F6E6E"/>
          </a:solidFill>
          <a:ln w="12700">
            <a:solidFill>
              <a:srgbClr val="0F6E6E"/>
            </a:solidFill>
            <a:prstDash val="solid"/>
          </a:ln>
        </p:spPr>
      </p:sp>
      <p:pic>
        <p:nvPicPr>
          <p:cNvPr id="24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026664" y="1984248"/>
            <a:ext cx="201168" cy="201168"/>
          </a:xfrm>
          <a:prstGeom prst="rect">
            <a:avLst/>
          </a:prstGeom>
        </p:spPr>
      </p:pic>
      <p:sp>
        <p:nvSpPr>
          <p:cNvPr id="25" name="Text 18"/>
          <p:cNvSpPr txBox="1"/>
          <p:nvPr/>
        </p:nvSpPr>
        <p:spPr>
          <a:xfrm>
            <a:off x="3401568" y="1856232"/>
            <a:ext cx="144475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200"/>
              </a:spcAft>
              <a:buNone/>
            </a:pPr>
            <a:r>
              <a:rPr lang="en-US" sz="1200" b="1" dirty="0">
                <a:solidFill>
                  <a:srgbClr val="14313D"/>
                </a:solidFill>
              </a:rPr>
              <a:t>Consent manager</a:t>
            </a:r>
            <a:endParaRPr lang="en-US" sz="120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1000" dirty="0">
                <a:solidFill>
                  <a:srgbClr val="5B6B73"/>
                </a:solidFill>
              </a:rPr>
              <a:t>Explicit, revocable consent (DPDP Act 2023, ABDM flow)</a:t>
            </a:r>
            <a:endParaRPr lang="en-US" sz="1200" dirty="0"/>
          </a:p>
        </p:txBody>
      </p:sp>
      <p:sp>
        <p:nvSpPr>
          <p:cNvPr id="26" name="card_Pseudonymisation"/>
          <p:cNvSpPr/>
          <p:nvPr/>
        </p:nvSpPr>
        <p:spPr>
          <a:xfrm>
            <a:off x="2834640" y="2834640"/>
            <a:ext cx="2103120" cy="896112"/>
          </a:xfrm>
          <a:prstGeom prst="roundRect">
            <a:avLst>
              <a:gd name="adj" fmla="val 8163"/>
            </a:avLst>
          </a:prstGeom>
          <a:solidFill>
            <a:srgbClr val="FFFFFF"/>
          </a:solidFill>
          <a:ln w="12700">
            <a:solidFill>
              <a:srgbClr val="B9C4C4"/>
            </a:solidFill>
            <a:prstDash val="solid"/>
          </a:ln>
        </p:spPr>
      </p:sp>
      <p:sp>
        <p:nvSpPr>
          <p:cNvPr id="27" name="Shape 20"/>
          <p:cNvSpPr/>
          <p:nvPr/>
        </p:nvSpPr>
        <p:spPr>
          <a:xfrm>
            <a:off x="2953512" y="2962656"/>
            <a:ext cx="347472" cy="347472"/>
          </a:xfrm>
          <a:prstGeom prst="ellipse">
            <a:avLst/>
          </a:prstGeom>
          <a:solidFill>
            <a:srgbClr val="0F6E6E"/>
          </a:solidFill>
          <a:ln w="12700">
            <a:solidFill>
              <a:srgbClr val="0F6E6E"/>
            </a:solidFill>
            <a:prstDash val="solid"/>
          </a:ln>
        </p:spPr>
      </p:sp>
      <p:pic>
        <p:nvPicPr>
          <p:cNvPr id="28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026664" y="3035808"/>
            <a:ext cx="201168" cy="201168"/>
          </a:xfrm>
          <a:prstGeom prst="rect">
            <a:avLst/>
          </a:prstGeom>
        </p:spPr>
      </p:pic>
      <p:sp>
        <p:nvSpPr>
          <p:cNvPr id="29" name="Text 21"/>
          <p:cNvSpPr txBox="1"/>
          <p:nvPr/>
        </p:nvSpPr>
        <p:spPr>
          <a:xfrm>
            <a:off x="3401568" y="2907792"/>
            <a:ext cx="144475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200"/>
              </a:spcAft>
              <a:buNone/>
            </a:pPr>
            <a:r>
              <a:rPr lang="en-US" sz="1200" b="1" dirty="0">
                <a:solidFill>
                  <a:srgbClr val="14313D"/>
                </a:solidFill>
              </a:rPr>
              <a:t>Pseudonymisation</a:t>
            </a:r>
            <a:endParaRPr lang="en-US" sz="120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1000" dirty="0">
                <a:solidFill>
                  <a:srgbClr val="5B6B73"/>
                </a:solidFill>
              </a:rPr>
              <a:t>IDs only, data minimisation, aggregate views</a:t>
            </a:r>
            <a:endParaRPr lang="en-US" sz="1200" dirty="0"/>
          </a:p>
        </p:txBody>
      </p:sp>
      <p:sp>
        <p:nvSpPr>
          <p:cNvPr id="30" name="card_FHIR normaliser"/>
          <p:cNvSpPr/>
          <p:nvPr/>
        </p:nvSpPr>
        <p:spPr>
          <a:xfrm>
            <a:off x="2834640" y="3886200"/>
            <a:ext cx="2103120" cy="896112"/>
          </a:xfrm>
          <a:prstGeom prst="roundRect">
            <a:avLst>
              <a:gd name="adj" fmla="val 8163"/>
            </a:avLst>
          </a:prstGeom>
          <a:solidFill>
            <a:srgbClr val="FFFFFF"/>
          </a:solidFill>
          <a:ln w="12700">
            <a:solidFill>
              <a:srgbClr val="B9C4C4"/>
            </a:solidFill>
            <a:prstDash val="solid"/>
          </a:ln>
        </p:spPr>
      </p:sp>
      <p:sp>
        <p:nvSpPr>
          <p:cNvPr id="31" name="Shape 23"/>
          <p:cNvSpPr/>
          <p:nvPr/>
        </p:nvSpPr>
        <p:spPr>
          <a:xfrm>
            <a:off x="2953512" y="4014216"/>
            <a:ext cx="347472" cy="347472"/>
          </a:xfrm>
          <a:prstGeom prst="ellipse">
            <a:avLst/>
          </a:prstGeom>
          <a:solidFill>
            <a:srgbClr val="0F6E6E"/>
          </a:solidFill>
          <a:ln w="12700">
            <a:solidFill>
              <a:srgbClr val="0F6E6E"/>
            </a:solidFill>
            <a:prstDash val="solid"/>
          </a:ln>
        </p:spPr>
      </p:sp>
      <p:pic>
        <p:nvPicPr>
          <p:cNvPr id="32" name="Image 6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3026664" y="4087368"/>
            <a:ext cx="201168" cy="201168"/>
          </a:xfrm>
          <a:prstGeom prst="rect">
            <a:avLst/>
          </a:prstGeom>
        </p:spPr>
      </p:pic>
      <p:sp>
        <p:nvSpPr>
          <p:cNvPr id="33" name="Text 24"/>
          <p:cNvSpPr txBox="1"/>
          <p:nvPr/>
        </p:nvSpPr>
        <p:spPr>
          <a:xfrm>
            <a:off x="3401568" y="3959352"/>
            <a:ext cx="144475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200"/>
              </a:spcAft>
              <a:buNone/>
            </a:pPr>
            <a:r>
              <a:rPr lang="en-US" sz="1200" b="1" dirty="0">
                <a:solidFill>
                  <a:srgbClr val="14313D"/>
                </a:solidFill>
              </a:rPr>
              <a:t>FHIR normaliser</a:t>
            </a:r>
            <a:endParaRPr lang="en-US" sz="120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1000" dirty="0">
                <a:solidFill>
                  <a:srgbClr val="5B6B73"/>
                </a:solidFill>
              </a:rPr>
              <a:t>FHIR R4 bundles · LOINC, ICD-10, ATC codes</a:t>
            </a:r>
            <a:endParaRPr lang="en-US" sz="1200" dirty="0"/>
          </a:p>
        </p:txBody>
      </p:sp>
      <p:sp>
        <p:nvSpPr>
          <p:cNvPr id="34" name="card_Data quality"/>
          <p:cNvSpPr/>
          <p:nvPr/>
        </p:nvSpPr>
        <p:spPr>
          <a:xfrm>
            <a:off x="2834640" y="4937760"/>
            <a:ext cx="2103120" cy="896112"/>
          </a:xfrm>
          <a:prstGeom prst="roundRect">
            <a:avLst>
              <a:gd name="adj" fmla="val 8163"/>
            </a:avLst>
          </a:prstGeom>
          <a:solidFill>
            <a:srgbClr val="FFFFFF"/>
          </a:solidFill>
          <a:ln w="12700">
            <a:solidFill>
              <a:srgbClr val="B9C4C4"/>
            </a:solidFill>
            <a:prstDash val="solid"/>
          </a:ln>
        </p:spPr>
      </p:sp>
      <p:sp>
        <p:nvSpPr>
          <p:cNvPr id="35" name="Shape 26"/>
          <p:cNvSpPr/>
          <p:nvPr/>
        </p:nvSpPr>
        <p:spPr>
          <a:xfrm>
            <a:off x="2953512" y="5065776"/>
            <a:ext cx="347472" cy="347472"/>
          </a:xfrm>
          <a:prstGeom prst="ellipse">
            <a:avLst/>
          </a:prstGeom>
          <a:solidFill>
            <a:srgbClr val="0F6E6E"/>
          </a:solidFill>
          <a:ln w="12700">
            <a:solidFill>
              <a:srgbClr val="0F6E6E"/>
            </a:solidFill>
            <a:prstDash val="solid"/>
          </a:ln>
        </p:spPr>
      </p:sp>
      <p:pic>
        <p:nvPicPr>
          <p:cNvPr id="36" name="Image 7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3026664" y="5138928"/>
            <a:ext cx="201168" cy="201168"/>
          </a:xfrm>
          <a:prstGeom prst="rect">
            <a:avLst/>
          </a:prstGeom>
        </p:spPr>
      </p:pic>
      <p:sp>
        <p:nvSpPr>
          <p:cNvPr id="37" name="Text 27"/>
          <p:cNvSpPr txBox="1"/>
          <p:nvPr/>
        </p:nvSpPr>
        <p:spPr>
          <a:xfrm>
            <a:off x="3401568" y="5010912"/>
            <a:ext cx="144475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200"/>
              </a:spcAft>
              <a:buNone/>
            </a:pPr>
            <a:r>
              <a:rPr lang="en-US" sz="1200" b="1" dirty="0">
                <a:solidFill>
                  <a:srgbClr val="14313D"/>
                </a:solidFill>
              </a:rPr>
              <a:t>Data quality</a:t>
            </a:r>
            <a:endParaRPr lang="en-US" sz="120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1000" dirty="0">
                <a:solidFill>
                  <a:srgbClr val="5B6B73"/>
                </a:solidFill>
              </a:rPr>
              <a:t>Gap and non-wear detection, unit checks</a:t>
            </a:r>
            <a:endParaRPr lang="en-US" sz="1200" dirty="0"/>
          </a:p>
        </p:txBody>
      </p:sp>
      <p:sp>
        <p:nvSpPr>
          <p:cNvPr id="38" name="Text 28"/>
          <p:cNvSpPr txBox="1"/>
          <p:nvPr/>
        </p:nvSpPr>
        <p:spPr>
          <a:xfrm>
            <a:off x="5257800" y="1371600"/>
            <a:ext cx="3794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50" dirty="0">
                <a:solidFill>
                  <a:srgbClr val="0F6E6E"/>
                </a:solidFill>
              </a:rPr>
              <a:t>3 · DIGITAL TWIN CORE (PER PERSON)</a:t>
            </a:r>
            <a:endParaRPr lang="en-US" sz="1100" dirty="0"/>
          </a:p>
        </p:txBody>
      </p:sp>
      <p:sp>
        <p:nvSpPr>
          <p:cNvPr id="39" name="Shape 29"/>
          <p:cNvSpPr/>
          <p:nvPr/>
        </p:nvSpPr>
        <p:spPr>
          <a:xfrm>
            <a:off x="5257800" y="1783080"/>
            <a:ext cx="3794760" cy="4050792"/>
          </a:xfrm>
          <a:prstGeom prst="roundRect">
            <a:avLst>
              <a:gd name="adj" fmla="val 2410"/>
            </a:avLst>
          </a:prstGeom>
          <a:solidFill>
            <a:srgbClr val="EAF3F2"/>
          </a:solidFill>
          <a:ln w="15875">
            <a:solidFill>
              <a:srgbClr val="0F6E6E"/>
            </a:solidFill>
            <a:prstDash val="solid"/>
          </a:ln>
        </p:spPr>
      </p:sp>
      <p:sp>
        <p:nvSpPr>
          <p:cNvPr id="40" name="card_Personal Baseline Engine"/>
          <p:cNvSpPr/>
          <p:nvPr/>
        </p:nvSpPr>
        <p:spPr>
          <a:xfrm>
            <a:off x="5422392" y="1947672"/>
            <a:ext cx="3465576" cy="749808"/>
          </a:xfrm>
          <a:prstGeom prst="roundRect">
            <a:avLst>
              <a:gd name="adj" fmla="val 9756"/>
            </a:avLst>
          </a:prstGeom>
          <a:solidFill>
            <a:srgbClr val="FFFFFF"/>
          </a:solidFill>
          <a:ln w="12700">
            <a:solidFill>
              <a:srgbClr val="0F6E6E"/>
            </a:solidFill>
            <a:prstDash val="solid"/>
          </a:ln>
        </p:spPr>
      </p:sp>
      <p:sp>
        <p:nvSpPr>
          <p:cNvPr id="41" name="Text 31"/>
          <p:cNvSpPr txBox="1"/>
          <p:nvPr/>
        </p:nvSpPr>
        <p:spPr>
          <a:xfrm>
            <a:off x="5550408" y="2020824"/>
            <a:ext cx="324612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200"/>
              </a:spcAft>
              <a:buNone/>
            </a:pPr>
            <a:r>
              <a:rPr lang="en-US" sz="1200" b="1" dirty="0">
                <a:solidFill>
                  <a:srgbClr val="14313D"/>
                </a:solidFill>
              </a:rPr>
              <a:t>Personal Baseline Engine</a:t>
            </a:r>
            <a:endParaRPr lang="en-US" sz="120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1000" dirty="0">
                <a:solidFill>
                  <a:srgbClr val="5B6B73"/>
                </a:solidFill>
              </a:rPr>
              <a:t>45-day rolling 'normal' for every signal, re-learned daily · features.py</a:t>
            </a:r>
            <a:endParaRPr lang="en-US" sz="1200" dirty="0"/>
          </a:p>
        </p:txBody>
      </p:sp>
      <p:sp>
        <p:nvSpPr>
          <p:cNvPr id="42" name="card_Twin State &amp; Drift Index"/>
          <p:cNvSpPr/>
          <p:nvPr/>
        </p:nvSpPr>
        <p:spPr>
          <a:xfrm>
            <a:off x="5422392" y="2862072"/>
            <a:ext cx="3465576" cy="749808"/>
          </a:xfrm>
          <a:prstGeom prst="roundRect">
            <a:avLst>
              <a:gd name="adj" fmla="val 9756"/>
            </a:avLst>
          </a:prstGeom>
          <a:solidFill>
            <a:srgbClr val="FFFFFF"/>
          </a:solidFill>
          <a:ln w="12700">
            <a:solidFill>
              <a:srgbClr val="0F6E6E"/>
            </a:solidFill>
            <a:prstDash val="solid"/>
          </a:ln>
        </p:spPr>
      </p:sp>
      <p:sp>
        <p:nvSpPr>
          <p:cNvPr id="43" name="Text 33"/>
          <p:cNvSpPr txBox="1"/>
          <p:nvPr/>
        </p:nvSpPr>
        <p:spPr>
          <a:xfrm>
            <a:off x="5550408" y="2935224"/>
            <a:ext cx="324612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200"/>
              </a:spcAft>
              <a:buNone/>
            </a:pPr>
            <a:r>
              <a:rPr lang="en-US" sz="1200" b="1" dirty="0">
                <a:solidFill>
                  <a:srgbClr val="14313D"/>
                </a:solidFill>
              </a:rPr>
              <a:t>Twin State &amp; Drift Index</a:t>
            </a:r>
            <a:endParaRPr lang="en-US" sz="120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1000" dirty="0">
                <a:solidFill>
                  <a:srgbClr val="5B6B73"/>
                </a:solidFill>
              </a:rPr>
              <a:t>Last 3/7 days vs personal normal (z-scores), week-on-week change</a:t>
            </a:r>
            <a:endParaRPr lang="en-US" sz="1200" dirty="0"/>
          </a:p>
        </p:txBody>
      </p:sp>
      <p:sp>
        <p:nvSpPr>
          <p:cNvPr id="44" name="card_Risk Engine"/>
          <p:cNvSpPr/>
          <p:nvPr/>
        </p:nvSpPr>
        <p:spPr>
          <a:xfrm>
            <a:off x="5422392" y="3776472"/>
            <a:ext cx="1650492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0F6E6E"/>
            </a:solidFill>
            <a:prstDash val="solid"/>
          </a:ln>
        </p:spPr>
      </p:sp>
      <p:sp>
        <p:nvSpPr>
          <p:cNvPr id="45" name="Text 35"/>
          <p:cNvSpPr txBox="1"/>
          <p:nvPr/>
        </p:nvSpPr>
        <p:spPr>
          <a:xfrm>
            <a:off x="5550408" y="3849624"/>
            <a:ext cx="1431036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200"/>
              </a:spcAft>
              <a:buNone/>
            </a:pPr>
            <a:r>
              <a:rPr lang="en-US" sz="1200" b="1" dirty="0">
                <a:solidFill>
                  <a:srgbClr val="14313D"/>
                </a:solidFill>
              </a:rPr>
              <a:t>Risk Engine</a:t>
            </a:r>
            <a:endParaRPr lang="en-US" sz="120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1000" dirty="0">
                <a:solidFill>
                  <a:srgbClr val="5B6B73"/>
                </a:solidFill>
              </a:rPr>
              <a:t>XGBoost · P(episode starts within 7 days) · train.py</a:t>
            </a:r>
            <a:endParaRPr lang="en-US" sz="1200" dirty="0"/>
          </a:p>
        </p:txBody>
      </p:sp>
      <p:sp>
        <p:nvSpPr>
          <p:cNvPr id="46" name="card_Explainer"/>
          <p:cNvSpPr/>
          <p:nvPr/>
        </p:nvSpPr>
        <p:spPr>
          <a:xfrm>
            <a:off x="7237476" y="3776472"/>
            <a:ext cx="1650492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0F6E6E"/>
            </a:solidFill>
            <a:prstDash val="solid"/>
          </a:ln>
        </p:spPr>
      </p:sp>
      <p:sp>
        <p:nvSpPr>
          <p:cNvPr id="47" name="Text 37"/>
          <p:cNvSpPr txBox="1"/>
          <p:nvPr/>
        </p:nvSpPr>
        <p:spPr>
          <a:xfrm>
            <a:off x="7365492" y="3849624"/>
            <a:ext cx="1431036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200"/>
              </a:spcAft>
              <a:buNone/>
            </a:pPr>
            <a:r>
              <a:rPr lang="en-US" sz="1200" b="1" dirty="0">
                <a:solidFill>
                  <a:srgbClr val="14313D"/>
                </a:solidFill>
              </a:rPr>
              <a:t>Explainer</a:t>
            </a:r>
            <a:endParaRPr lang="en-US" sz="120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1000" dirty="0">
                <a:solidFill>
                  <a:srgbClr val="5B6B73"/>
                </a:solidFill>
              </a:rPr>
              <a:t>SHAP → plain-language reasons per alert</a:t>
            </a:r>
            <a:endParaRPr lang="en-US" sz="1200" dirty="0"/>
          </a:p>
        </p:txBody>
      </p:sp>
      <p:sp>
        <p:nvSpPr>
          <p:cNvPr id="48" name="card_What-if Simulator"/>
          <p:cNvSpPr/>
          <p:nvPr/>
        </p:nvSpPr>
        <p:spPr>
          <a:xfrm>
            <a:off x="5422392" y="4855464"/>
            <a:ext cx="1650492" cy="877824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12700">
            <a:solidFill>
              <a:srgbClr val="0F6E6E"/>
            </a:solidFill>
            <a:prstDash val="solid"/>
          </a:ln>
        </p:spPr>
      </p:sp>
      <p:sp>
        <p:nvSpPr>
          <p:cNvPr id="49" name="Text 39"/>
          <p:cNvSpPr txBox="1"/>
          <p:nvPr/>
        </p:nvSpPr>
        <p:spPr>
          <a:xfrm>
            <a:off x="5550408" y="4928616"/>
            <a:ext cx="1431036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200"/>
              </a:spcAft>
              <a:buNone/>
            </a:pPr>
            <a:r>
              <a:rPr lang="en-US" sz="1200" b="1" dirty="0">
                <a:solidFill>
                  <a:srgbClr val="14313D"/>
                </a:solidFill>
              </a:rPr>
              <a:t>What-if Simulator</a:t>
            </a:r>
            <a:endParaRPr lang="en-US" sz="120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1000" dirty="0">
                <a:solidFill>
                  <a:srgbClr val="5B6B73"/>
                </a:solidFill>
              </a:rPr>
              <a:t>Re-run twin under changed routine · twin.py</a:t>
            </a:r>
            <a:endParaRPr lang="en-US" sz="1200" dirty="0"/>
          </a:p>
        </p:txBody>
      </p:sp>
      <p:sp>
        <p:nvSpPr>
          <p:cNvPr id="50" name="card_Twin store"/>
          <p:cNvSpPr/>
          <p:nvPr/>
        </p:nvSpPr>
        <p:spPr>
          <a:xfrm>
            <a:off x="7237476" y="4855464"/>
            <a:ext cx="1650492" cy="877824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12700">
            <a:solidFill>
              <a:srgbClr val="0F6E6E"/>
            </a:solidFill>
            <a:prstDash val="solid"/>
          </a:ln>
        </p:spPr>
      </p:sp>
      <p:sp>
        <p:nvSpPr>
          <p:cNvPr id="51" name="Text 41"/>
          <p:cNvSpPr txBox="1"/>
          <p:nvPr/>
        </p:nvSpPr>
        <p:spPr>
          <a:xfrm>
            <a:off x="7365492" y="4928616"/>
            <a:ext cx="1431036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200"/>
              </a:spcAft>
              <a:buNone/>
            </a:pPr>
            <a:r>
              <a:rPr lang="en-US" sz="1200" b="1" dirty="0">
                <a:solidFill>
                  <a:srgbClr val="14313D"/>
                </a:solidFill>
              </a:rPr>
              <a:t>Twin store</a:t>
            </a:r>
            <a:endParaRPr lang="en-US" sz="120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1000" dirty="0">
                <a:solidFill>
                  <a:srgbClr val="5B6B73"/>
                </a:solidFill>
              </a:rPr>
              <a:t>Per-person state, history, model version</a:t>
            </a:r>
            <a:endParaRPr lang="en-US" sz="1200" dirty="0"/>
          </a:p>
        </p:txBody>
      </p:sp>
      <p:sp>
        <p:nvSpPr>
          <p:cNvPr id="52" name="Shape 42"/>
          <p:cNvSpPr/>
          <p:nvPr/>
        </p:nvSpPr>
        <p:spPr>
          <a:xfrm>
            <a:off x="7155180" y="2697480"/>
            <a:ext cx="0" cy="164592"/>
          </a:xfrm>
          <a:prstGeom prst="line">
            <a:avLst/>
          </a:prstGeom>
          <a:noFill/>
          <a:ln w="19050">
            <a:solidFill>
              <a:srgbClr val="0F6E6E"/>
            </a:solidFill>
            <a:prstDash val="solid"/>
            <a:tailEnd type="triangle"/>
          </a:ln>
        </p:spPr>
      </p:sp>
      <p:sp>
        <p:nvSpPr>
          <p:cNvPr id="53" name="Shape 43"/>
          <p:cNvSpPr/>
          <p:nvPr/>
        </p:nvSpPr>
        <p:spPr>
          <a:xfrm>
            <a:off x="7155180" y="3611880"/>
            <a:ext cx="0" cy="164592"/>
          </a:xfrm>
          <a:prstGeom prst="line">
            <a:avLst/>
          </a:prstGeom>
          <a:noFill/>
          <a:ln w="19050">
            <a:solidFill>
              <a:srgbClr val="0F6E6E"/>
            </a:solidFill>
            <a:prstDash val="solid"/>
            <a:tailEnd type="triangle"/>
          </a:ln>
        </p:spPr>
      </p:sp>
      <p:sp>
        <p:nvSpPr>
          <p:cNvPr id="54" name="Text 44"/>
          <p:cNvSpPr txBox="1"/>
          <p:nvPr/>
        </p:nvSpPr>
        <p:spPr>
          <a:xfrm>
            <a:off x="9372600" y="1371600"/>
            <a:ext cx="2423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50" dirty="0">
                <a:solidFill>
                  <a:srgbClr val="0F6E6E"/>
                </a:solidFill>
              </a:rPr>
              <a:t>4 · INTERFACES</a:t>
            </a:r>
            <a:endParaRPr lang="en-US" sz="1100" dirty="0"/>
          </a:p>
        </p:txBody>
      </p:sp>
      <p:sp>
        <p:nvSpPr>
          <p:cNvPr id="55" name="card_Person view"/>
          <p:cNvSpPr/>
          <p:nvPr/>
        </p:nvSpPr>
        <p:spPr>
          <a:xfrm>
            <a:off x="9372600" y="1783080"/>
            <a:ext cx="2423160" cy="1207008"/>
          </a:xfrm>
          <a:prstGeom prst="roundRect">
            <a:avLst>
              <a:gd name="adj" fmla="val 6061"/>
            </a:avLst>
          </a:prstGeom>
          <a:solidFill>
            <a:srgbClr val="FFFFFF"/>
          </a:solidFill>
          <a:ln w="12700">
            <a:solidFill>
              <a:srgbClr val="B9C4C4"/>
            </a:solidFill>
            <a:prstDash val="solid"/>
          </a:ln>
        </p:spPr>
      </p:sp>
      <p:sp>
        <p:nvSpPr>
          <p:cNvPr id="56" name="Shape 46"/>
          <p:cNvSpPr/>
          <p:nvPr/>
        </p:nvSpPr>
        <p:spPr>
          <a:xfrm>
            <a:off x="9491472" y="1911096"/>
            <a:ext cx="347472" cy="347472"/>
          </a:xfrm>
          <a:prstGeom prst="ellipse">
            <a:avLst/>
          </a:prstGeom>
          <a:solidFill>
            <a:srgbClr val="0F6E6E"/>
          </a:solidFill>
          <a:ln w="12700">
            <a:solidFill>
              <a:srgbClr val="0F6E6E"/>
            </a:solidFill>
            <a:prstDash val="solid"/>
          </a:ln>
        </p:spPr>
      </p:sp>
      <p:pic>
        <p:nvPicPr>
          <p:cNvPr id="57" name="Image 8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9564624" y="1984248"/>
            <a:ext cx="201168" cy="201168"/>
          </a:xfrm>
          <a:prstGeom prst="rect">
            <a:avLst/>
          </a:prstGeom>
        </p:spPr>
      </p:pic>
      <p:sp>
        <p:nvSpPr>
          <p:cNvPr id="58" name="Text 47"/>
          <p:cNvSpPr txBox="1"/>
          <p:nvPr/>
        </p:nvSpPr>
        <p:spPr>
          <a:xfrm>
            <a:off x="9939528" y="1856232"/>
            <a:ext cx="1764792" cy="10607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200"/>
              </a:spcAft>
              <a:buNone/>
            </a:pPr>
            <a:r>
              <a:rPr lang="en-US" sz="1200" b="1" dirty="0">
                <a:solidFill>
                  <a:srgbClr val="14313D"/>
                </a:solidFill>
              </a:rPr>
              <a:t>Person view</a:t>
            </a:r>
            <a:endParaRPr lang="en-US" sz="120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1000" dirty="0">
                <a:solidFill>
                  <a:srgbClr val="5B6B73"/>
                </a:solidFill>
              </a:rPr>
              <a:t>Mirror vs your normal, gentle nudges, what-if</a:t>
            </a:r>
            <a:endParaRPr lang="en-US" sz="1200" dirty="0"/>
          </a:p>
        </p:txBody>
      </p:sp>
      <p:sp>
        <p:nvSpPr>
          <p:cNvPr id="59" name="card_Counsellor / clinician"/>
          <p:cNvSpPr/>
          <p:nvPr/>
        </p:nvSpPr>
        <p:spPr>
          <a:xfrm>
            <a:off x="9372600" y="3172968"/>
            <a:ext cx="2423160" cy="1207008"/>
          </a:xfrm>
          <a:prstGeom prst="roundRect">
            <a:avLst>
              <a:gd name="adj" fmla="val 6061"/>
            </a:avLst>
          </a:prstGeom>
          <a:solidFill>
            <a:srgbClr val="FFFFFF"/>
          </a:solidFill>
          <a:ln w="12700">
            <a:solidFill>
              <a:srgbClr val="B9C4C4"/>
            </a:solidFill>
            <a:prstDash val="solid"/>
          </a:ln>
        </p:spPr>
      </p:sp>
      <p:sp>
        <p:nvSpPr>
          <p:cNvPr id="60" name="Shape 49"/>
          <p:cNvSpPr/>
          <p:nvPr/>
        </p:nvSpPr>
        <p:spPr>
          <a:xfrm>
            <a:off x="9491472" y="3300984"/>
            <a:ext cx="347472" cy="347472"/>
          </a:xfrm>
          <a:prstGeom prst="ellipse">
            <a:avLst/>
          </a:prstGeom>
          <a:solidFill>
            <a:srgbClr val="0F6E6E"/>
          </a:solidFill>
          <a:ln w="12700">
            <a:solidFill>
              <a:srgbClr val="0F6E6E"/>
            </a:solidFill>
            <a:prstDash val="solid"/>
          </a:ln>
        </p:spPr>
      </p:sp>
      <p:pic>
        <p:nvPicPr>
          <p:cNvPr id="61" name="Image 9" descr="preencoded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9564624" y="3374136"/>
            <a:ext cx="201168" cy="201168"/>
          </a:xfrm>
          <a:prstGeom prst="rect">
            <a:avLst/>
          </a:prstGeom>
        </p:spPr>
      </p:pic>
      <p:sp>
        <p:nvSpPr>
          <p:cNvPr id="62" name="Text 50"/>
          <p:cNvSpPr txBox="1"/>
          <p:nvPr/>
        </p:nvSpPr>
        <p:spPr>
          <a:xfrm>
            <a:off x="9939528" y="3246120"/>
            <a:ext cx="1764792" cy="10607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200"/>
              </a:spcAft>
              <a:buNone/>
            </a:pPr>
            <a:r>
              <a:rPr lang="en-US" sz="1200" b="1" dirty="0">
                <a:solidFill>
                  <a:srgbClr val="14313D"/>
                </a:solidFill>
              </a:rPr>
              <a:t>Counsellor / clinician</a:t>
            </a:r>
            <a:endParaRPr lang="en-US" sz="120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1000" dirty="0">
                <a:solidFill>
                  <a:srgbClr val="5B6B73"/>
                </a:solidFill>
              </a:rPr>
              <a:t>Risk-ranked caseload, reasons, PHQ-9 trend, FHIR record</a:t>
            </a:r>
            <a:endParaRPr lang="en-US" sz="1200" dirty="0"/>
          </a:p>
        </p:txBody>
      </p:sp>
      <p:sp>
        <p:nvSpPr>
          <p:cNvPr id="63" name="card_Alert pathway"/>
          <p:cNvSpPr/>
          <p:nvPr/>
        </p:nvSpPr>
        <p:spPr>
          <a:xfrm>
            <a:off x="9372600" y="4562856"/>
            <a:ext cx="2423160" cy="1271016"/>
          </a:xfrm>
          <a:prstGeom prst="roundRect">
            <a:avLst>
              <a:gd name="adj" fmla="val 5755"/>
            </a:avLst>
          </a:prstGeom>
          <a:solidFill>
            <a:srgbClr val="FFFFFF"/>
          </a:solidFill>
          <a:ln w="12700">
            <a:solidFill>
              <a:srgbClr val="B9C4C4"/>
            </a:solidFill>
            <a:prstDash val="solid"/>
          </a:ln>
        </p:spPr>
      </p:sp>
      <p:sp>
        <p:nvSpPr>
          <p:cNvPr id="64" name="Shape 52"/>
          <p:cNvSpPr/>
          <p:nvPr/>
        </p:nvSpPr>
        <p:spPr>
          <a:xfrm>
            <a:off x="9491472" y="4690872"/>
            <a:ext cx="347472" cy="347472"/>
          </a:xfrm>
          <a:prstGeom prst="ellipse">
            <a:avLst/>
          </a:prstGeom>
          <a:solidFill>
            <a:srgbClr val="C8553D"/>
          </a:solidFill>
          <a:ln w="12700">
            <a:solidFill>
              <a:srgbClr val="C8553D"/>
            </a:solidFill>
            <a:prstDash val="solid"/>
          </a:ln>
        </p:spPr>
      </p:sp>
      <p:pic>
        <p:nvPicPr>
          <p:cNvPr id="65" name="Image 10" descr="preencoded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9564624" y="4764024"/>
            <a:ext cx="201168" cy="201168"/>
          </a:xfrm>
          <a:prstGeom prst="rect">
            <a:avLst/>
          </a:prstGeom>
        </p:spPr>
      </p:pic>
      <p:sp>
        <p:nvSpPr>
          <p:cNvPr id="66" name="Text 53"/>
          <p:cNvSpPr txBox="1"/>
          <p:nvPr/>
        </p:nvSpPr>
        <p:spPr>
          <a:xfrm>
            <a:off x="9939528" y="4636008"/>
            <a:ext cx="1764792" cy="11247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200"/>
              </a:spcAft>
              <a:buNone/>
            </a:pPr>
            <a:r>
              <a:rPr lang="en-US" sz="1200" b="1" dirty="0">
                <a:solidFill>
                  <a:srgbClr val="14313D"/>
                </a:solidFill>
              </a:rPr>
              <a:t>Alert pathway</a:t>
            </a:r>
            <a:endParaRPr lang="en-US" sz="120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1000" dirty="0">
                <a:solidFill>
                  <a:srgbClr val="5B6B73"/>
                </a:solidFill>
              </a:rPr>
              <a:t>Counsellor check-in within 48 h and repeat PHQ-9. Crisis line: Tele-MANAS 14416</a:t>
            </a:r>
            <a:endParaRPr lang="en-US" sz="1200" dirty="0"/>
          </a:p>
        </p:txBody>
      </p:sp>
      <p:sp>
        <p:nvSpPr>
          <p:cNvPr id="67" name="Shape 54"/>
          <p:cNvSpPr/>
          <p:nvPr/>
        </p:nvSpPr>
        <p:spPr>
          <a:xfrm>
            <a:off x="2551176" y="3703320"/>
            <a:ext cx="246888" cy="0"/>
          </a:xfrm>
          <a:prstGeom prst="line">
            <a:avLst/>
          </a:prstGeom>
          <a:noFill/>
          <a:ln w="25400">
            <a:solidFill>
              <a:srgbClr val="14313D"/>
            </a:solidFill>
            <a:prstDash val="solid"/>
            <a:tailEnd type="triangle"/>
          </a:ln>
        </p:spPr>
      </p:sp>
      <p:sp>
        <p:nvSpPr>
          <p:cNvPr id="68" name="Shape 55"/>
          <p:cNvSpPr/>
          <p:nvPr/>
        </p:nvSpPr>
        <p:spPr>
          <a:xfrm>
            <a:off x="4974336" y="3703320"/>
            <a:ext cx="246888" cy="0"/>
          </a:xfrm>
          <a:prstGeom prst="line">
            <a:avLst/>
          </a:prstGeom>
          <a:noFill/>
          <a:ln w="25400">
            <a:solidFill>
              <a:srgbClr val="14313D"/>
            </a:solidFill>
            <a:prstDash val="solid"/>
            <a:tailEnd type="triangle"/>
          </a:ln>
        </p:spPr>
      </p:sp>
      <p:sp>
        <p:nvSpPr>
          <p:cNvPr id="69" name="Shape 56"/>
          <p:cNvSpPr/>
          <p:nvPr/>
        </p:nvSpPr>
        <p:spPr>
          <a:xfrm>
            <a:off x="9089136" y="3703320"/>
            <a:ext cx="246888" cy="0"/>
          </a:xfrm>
          <a:prstGeom prst="line">
            <a:avLst/>
          </a:prstGeom>
          <a:noFill/>
          <a:ln w="25400">
            <a:solidFill>
              <a:srgbClr val="14313D"/>
            </a:solidFill>
            <a:prstDash val="solid"/>
            <a:tailEnd type="triangle"/>
          </a:ln>
        </p:spPr>
      </p:sp>
      <p:sp>
        <p:nvSpPr>
          <p:cNvPr id="70" name="Shape 57"/>
          <p:cNvSpPr/>
          <p:nvPr/>
        </p:nvSpPr>
        <p:spPr>
          <a:xfrm>
            <a:off x="5257800" y="6053328"/>
            <a:ext cx="6537960" cy="457200"/>
          </a:xfrm>
          <a:prstGeom prst="roundRect">
            <a:avLst>
              <a:gd name="adj" fmla="val 16000"/>
            </a:avLst>
          </a:prstGeom>
          <a:solidFill>
            <a:srgbClr val="FBF0DE"/>
          </a:solidFill>
          <a:ln w="12700">
            <a:solidFill>
              <a:srgbClr val="E8A33D"/>
            </a:solidFill>
            <a:prstDash val="dash"/>
          </a:ln>
        </p:spPr>
      </p:sp>
      <p:pic>
        <p:nvPicPr>
          <p:cNvPr id="71" name="Image 11" descr="preencoded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5394960" y="6153912"/>
            <a:ext cx="256032" cy="256032"/>
          </a:xfrm>
          <a:prstGeom prst="rect">
            <a:avLst/>
          </a:prstGeom>
        </p:spPr>
      </p:pic>
      <p:sp>
        <p:nvSpPr>
          <p:cNvPr id="72" name="Text 58"/>
          <p:cNvSpPr txBox="1"/>
          <p:nvPr/>
        </p:nvSpPr>
        <p:spPr>
          <a:xfrm>
            <a:off x="5760720" y="6053328"/>
            <a:ext cx="5943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4313D"/>
                </a:solidFill>
              </a:rPr>
              <a:t>Feedback loop: confirmed outcomes from counsellors → recalibrate thresholds and retrain</a:t>
            </a:r>
            <a:endParaRPr lang="en-US" sz="1100" dirty="0"/>
          </a:p>
        </p:txBody>
      </p:sp>
      <p:sp>
        <p:nvSpPr>
          <p:cNvPr id="73" name="Shape 59"/>
          <p:cNvSpPr/>
          <p:nvPr/>
        </p:nvSpPr>
        <p:spPr>
          <a:xfrm>
            <a:off x="411480" y="6163056"/>
            <a:ext cx="365760" cy="237744"/>
          </a:xfrm>
          <a:prstGeom prst="roundRect">
            <a:avLst>
              <a:gd name="adj" fmla="val 19231"/>
            </a:avLst>
          </a:prstGeom>
          <a:solidFill>
            <a:srgbClr val="FFFFFF"/>
          </a:solidFill>
          <a:ln w="12700">
            <a:solidFill>
              <a:srgbClr val="B9C4C4"/>
            </a:solidFill>
            <a:prstDash val="solid"/>
          </a:ln>
        </p:spPr>
      </p:sp>
      <p:sp>
        <p:nvSpPr>
          <p:cNvPr id="74" name="Text 60"/>
          <p:cNvSpPr txBox="1"/>
          <p:nvPr/>
        </p:nvSpPr>
        <p:spPr>
          <a:xfrm>
            <a:off x="868680" y="6126480"/>
            <a:ext cx="1463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B6B73"/>
                </a:solidFill>
              </a:rPr>
              <a:t>Built in this PoC</a:t>
            </a:r>
            <a:endParaRPr lang="en-US" sz="1000" dirty="0"/>
          </a:p>
        </p:txBody>
      </p:sp>
      <p:sp>
        <p:nvSpPr>
          <p:cNvPr id="75" name="Shape 61"/>
          <p:cNvSpPr/>
          <p:nvPr/>
        </p:nvSpPr>
        <p:spPr>
          <a:xfrm>
            <a:off x="2331720" y="6163056"/>
            <a:ext cx="365760" cy="237744"/>
          </a:xfrm>
          <a:prstGeom prst="roundRect">
            <a:avLst>
              <a:gd name="adj" fmla="val 19231"/>
            </a:avLst>
          </a:prstGeom>
          <a:solidFill>
            <a:srgbClr val="FFFFFF"/>
          </a:solidFill>
          <a:ln w="12700">
            <a:solidFill>
              <a:srgbClr val="B9C4C4"/>
            </a:solidFill>
            <a:prstDash val="dash"/>
          </a:ln>
        </p:spPr>
      </p:sp>
      <p:sp>
        <p:nvSpPr>
          <p:cNvPr id="76" name="Text 62"/>
          <p:cNvSpPr txBox="1"/>
          <p:nvPr/>
        </p:nvSpPr>
        <p:spPr>
          <a:xfrm>
            <a:off x="2788920" y="6126480"/>
            <a:ext cx="1737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B6B73"/>
                </a:solidFill>
              </a:rPr>
              <a:t>Designed, roadmap</a:t>
            </a:r>
            <a:endParaRPr lang="en-US" sz="1000" dirty="0"/>
          </a:p>
        </p:txBody>
      </p:sp>
      <p:sp>
        <p:nvSpPr>
          <p:cNvPr id="77" name="Text 63"/>
          <p:cNvSpPr txBox="1"/>
          <p:nvPr/>
        </p:nvSpPr>
        <p:spPr>
          <a:xfrm>
            <a:off x="411480" y="6455664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5B6B73"/>
                </a:solidFill>
              </a:rPr>
              <a:t>PoC runs on synthetic data · src/simulator.py feeds the same pipeline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347472"/>
            <a:ext cx="11064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8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 public dataset pairs wearables with records, so we simulated 600 people, then checked the features on real actigraphy</a:t>
            </a:r>
            <a:endParaRPr lang="en-US" sz="2800" dirty="0"/>
          </a:p>
        </p:txBody>
      </p:sp>
      <p:sp>
        <p:nvSpPr>
          <p:cNvPr id="4" name="Shape 1"/>
          <p:cNvSpPr/>
          <p:nvPr/>
        </p:nvSpPr>
        <p:spPr>
          <a:xfrm>
            <a:off x="548640" y="1600200"/>
            <a:ext cx="2606040" cy="1920240"/>
          </a:xfrm>
          <a:prstGeom prst="roundRect">
            <a:avLst>
              <a:gd name="adj" fmla="val 4762"/>
            </a:avLst>
          </a:prstGeom>
          <a:solidFill>
            <a:srgbClr val="EAF3F2"/>
          </a:solidFill>
          <a:ln w="12700">
            <a:solidFill>
              <a:srgbClr val="EAF3F2"/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>
            <a:off x="777240" y="1828800"/>
            <a:ext cx="21945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600" b="1" dirty="0">
                <a:solidFill>
                  <a:srgbClr val="0F6E6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600</a:t>
            </a:r>
            <a:endParaRPr lang="en-US" sz="3600" dirty="0"/>
          </a:p>
        </p:txBody>
      </p:sp>
      <p:sp>
        <p:nvSpPr>
          <p:cNvPr id="6" name="Text 3"/>
          <p:cNvSpPr txBox="1"/>
          <p:nvPr/>
        </p:nvSpPr>
        <p:spPr>
          <a:xfrm>
            <a:off x="777240" y="2651760"/>
            <a:ext cx="21945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14313D"/>
                </a:solidFill>
              </a:rPr>
              <a:t>synthetic people, 12 Indian cities</a:t>
            </a:r>
            <a:endParaRPr lang="en-US" sz="1400" dirty="0"/>
          </a:p>
        </p:txBody>
      </p:sp>
      <p:sp>
        <p:nvSpPr>
          <p:cNvPr id="7" name="Shape 4"/>
          <p:cNvSpPr/>
          <p:nvPr/>
        </p:nvSpPr>
        <p:spPr>
          <a:xfrm>
            <a:off x="3337560" y="1600200"/>
            <a:ext cx="2606040" cy="1920240"/>
          </a:xfrm>
          <a:prstGeom prst="roundRect">
            <a:avLst>
              <a:gd name="adj" fmla="val 4762"/>
            </a:avLst>
          </a:prstGeom>
          <a:solidFill>
            <a:srgbClr val="EAF3F2"/>
          </a:solidFill>
          <a:ln w="12700">
            <a:solidFill>
              <a:srgbClr val="EAF3F2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3566160" y="1828800"/>
            <a:ext cx="21945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600" b="1" dirty="0">
                <a:solidFill>
                  <a:srgbClr val="0F6E6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144,000</a:t>
            </a:r>
            <a:endParaRPr lang="en-US" sz="3600" dirty="0"/>
          </a:p>
        </p:txBody>
      </p:sp>
      <p:sp>
        <p:nvSpPr>
          <p:cNvPr id="9" name="Text 6"/>
          <p:cNvSpPr txBox="1"/>
          <p:nvPr/>
        </p:nvSpPr>
        <p:spPr>
          <a:xfrm>
            <a:off x="3566160" y="2651760"/>
            <a:ext cx="21945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14313D"/>
                </a:solidFill>
              </a:rPr>
              <a:t>person-days (240 days each)</a:t>
            </a:r>
            <a:endParaRPr lang="en-US" sz="1400" dirty="0"/>
          </a:p>
        </p:txBody>
      </p:sp>
      <p:sp>
        <p:nvSpPr>
          <p:cNvPr id="10" name="Shape 7"/>
          <p:cNvSpPr/>
          <p:nvPr/>
        </p:nvSpPr>
        <p:spPr>
          <a:xfrm>
            <a:off x="548640" y="3703320"/>
            <a:ext cx="2606040" cy="1920240"/>
          </a:xfrm>
          <a:prstGeom prst="roundRect">
            <a:avLst>
              <a:gd name="adj" fmla="val 4762"/>
            </a:avLst>
          </a:prstGeom>
          <a:solidFill>
            <a:srgbClr val="EAF3F2"/>
          </a:solidFill>
          <a:ln w="12700">
            <a:solidFill>
              <a:srgbClr val="EAF3F2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777240" y="3931920"/>
            <a:ext cx="21945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600" b="1" dirty="0">
                <a:solidFill>
                  <a:srgbClr val="0F6E6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175</a:t>
            </a:r>
            <a:endParaRPr lang="en-US" sz="3600" dirty="0"/>
          </a:p>
        </p:txBody>
      </p:sp>
      <p:sp>
        <p:nvSpPr>
          <p:cNvPr id="12" name="Text 9"/>
          <p:cNvSpPr txBox="1"/>
          <p:nvPr/>
        </p:nvSpPr>
        <p:spPr>
          <a:xfrm>
            <a:off x="777240" y="4754880"/>
            <a:ext cx="21945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14313D"/>
                </a:solidFill>
              </a:rPr>
              <a:t>depressive episodes in 148 people</a:t>
            </a:r>
            <a:endParaRPr lang="en-US" sz="1400" dirty="0"/>
          </a:p>
        </p:txBody>
      </p:sp>
      <p:sp>
        <p:nvSpPr>
          <p:cNvPr id="13" name="Shape 10"/>
          <p:cNvSpPr/>
          <p:nvPr/>
        </p:nvSpPr>
        <p:spPr>
          <a:xfrm>
            <a:off x="3337560" y="3703320"/>
            <a:ext cx="2606040" cy="1920240"/>
          </a:xfrm>
          <a:prstGeom prst="roundRect">
            <a:avLst>
              <a:gd name="adj" fmla="val 4762"/>
            </a:avLst>
          </a:prstGeom>
          <a:solidFill>
            <a:srgbClr val="EAF3F2"/>
          </a:solidFill>
          <a:ln w="12700">
            <a:solidFill>
              <a:srgbClr val="EAF3F2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3566160" y="3931920"/>
            <a:ext cx="21945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600" b="1" dirty="0">
                <a:solidFill>
                  <a:srgbClr val="0F6E6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 + EHR</a:t>
            </a:r>
            <a:endParaRPr lang="en-US" sz="3600" dirty="0"/>
          </a:p>
        </p:txBody>
      </p:sp>
      <p:sp>
        <p:nvSpPr>
          <p:cNvPr id="15" name="Text 12"/>
          <p:cNvSpPr txBox="1"/>
          <p:nvPr/>
        </p:nvSpPr>
        <p:spPr>
          <a:xfrm>
            <a:off x="3566160" y="4754880"/>
            <a:ext cx="21945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14313D"/>
                </a:solidFill>
              </a:rPr>
              <a:t>daily signals plus health record</a:t>
            </a:r>
            <a:endParaRPr lang="en-US" sz="1400" dirty="0"/>
          </a:p>
        </p:txBody>
      </p:sp>
      <p:sp>
        <p:nvSpPr>
          <p:cNvPr id="16" name="Text 13"/>
          <p:cNvSpPr txBox="1"/>
          <p:nvPr/>
        </p:nvSpPr>
        <p:spPr>
          <a:xfrm>
            <a:off x="6400800" y="1600200"/>
            <a:ext cx="5212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b="1" dirty="0">
                <a:solidFill>
                  <a:srgbClr val="14313D"/>
                </a:solidFill>
              </a:rPr>
              <a:t>How the simulator works</a:t>
            </a:r>
            <a:endParaRPr lang="en-US" sz="1800" dirty="0"/>
          </a:p>
        </p:txBody>
      </p:sp>
      <p:sp>
        <p:nvSpPr>
          <p:cNvPr id="17" name="Shape 14"/>
          <p:cNvSpPr/>
          <p:nvPr/>
        </p:nvSpPr>
        <p:spPr>
          <a:xfrm>
            <a:off x="6400800" y="2103120"/>
            <a:ext cx="5212080" cy="1051560"/>
          </a:xfrm>
          <a:prstGeom prst="roundRect">
            <a:avLst>
              <a:gd name="adj" fmla="val 8696"/>
            </a:avLst>
          </a:prstGeom>
          <a:solidFill>
            <a:srgbClr val="EAF3F2"/>
          </a:solidFill>
          <a:ln w="12700">
            <a:solidFill>
              <a:srgbClr val="EAF3F2"/>
            </a:solidFill>
            <a:prstDash val="solid"/>
          </a:ln>
        </p:spPr>
      </p:sp>
      <p:sp>
        <p:nvSpPr>
          <p:cNvPr id="18" name="Text 15"/>
          <p:cNvSpPr txBox="1"/>
          <p:nvPr/>
        </p:nvSpPr>
        <p:spPr>
          <a:xfrm>
            <a:off x="6629400" y="2212848"/>
            <a:ext cx="4800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rgbClr val="14313D"/>
                </a:solidFill>
              </a:rPr>
              <a:t>Drivers</a:t>
            </a:r>
            <a:endParaRPr lang="en-US" sz="1500" dirty="0"/>
          </a:p>
          <a:p>
            <a:pPr marL="0" indent="0">
              <a:buNone/>
            </a:pPr>
            <a:r>
              <a:rPr lang="en-US" sz="1300" dirty="0">
                <a:solidFill>
                  <a:srgbClr val="5B6B73"/>
                </a:solidFill>
              </a:rPr>
              <a:t>Vulnerability, prior episodes, family history, exam / work-crunch calendar, random life events</a:t>
            </a:r>
            <a:endParaRPr lang="en-US" sz="1500" dirty="0"/>
          </a:p>
        </p:txBody>
      </p:sp>
      <p:sp>
        <p:nvSpPr>
          <p:cNvPr id="19" name="Shape 16"/>
          <p:cNvSpPr/>
          <p:nvPr/>
        </p:nvSpPr>
        <p:spPr>
          <a:xfrm>
            <a:off x="9006840" y="3172968"/>
            <a:ext cx="0" cy="210312"/>
          </a:xfrm>
          <a:prstGeom prst="line">
            <a:avLst/>
          </a:prstGeom>
          <a:noFill/>
          <a:ln w="19050">
            <a:solidFill>
              <a:srgbClr val="5B6B73"/>
            </a:solidFill>
            <a:prstDash val="solid"/>
            <a:tailEnd type="triangle"/>
          </a:ln>
        </p:spPr>
      </p:sp>
      <p:sp>
        <p:nvSpPr>
          <p:cNvPr id="20" name="Shape 17"/>
          <p:cNvSpPr/>
          <p:nvPr/>
        </p:nvSpPr>
        <p:spPr>
          <a:xfrm>
            <a:off x="6400800" y="3401568"/>
            <a:ext cx="5212080" cy="1051560"/>
          </a:xfrm>
          <a:prstGeom prst="roundRect">
            <a:avLst>
              <a:gd name="adj" fmla="val 8696"/>
            </a:avLst>
          </a:prstGeom>
          <a:solidFill>
            <a:srgbClr val="F8E6E2"/>
          </a:solidFill>
          <a:ln w="12700">
            <a:solidFill>
              <a:srgbClr val="F8E6E2"/>
            </a:solidFill>
            <a:prstDash val="solid"/>
          </a:ln>
        </p:spPr>
      </p:sp>
      <p:sp>
        <p:nvSpPr>
          <p:cNvPr id="21" name="Text 18"/>
          <p:cNvSpPr txBox="1"/>
          <p:nvPr/>
        </p:nvSpPr>
        <p:spPr>
          <a:xfrm>
            <a:off x="6629400" y="3511296"/>
            <a:ext cx="4800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rgbClr val="14313D"/>
                </a:solidFill>
              </a:rPr>
              <a:t>Hidden depressive load</a:t>
            </a:r>
            <a:endParaRPr lang="en-US" sz="1500" dirty="0"/>
          </a:p>
          <a:p>
            <a:pPr marL="0" indent="0">
              <a:buNone/>
            </a:pPr>
            <a:r>
              <a:rPr lang="en-US" sz="1300" dirty="0">
                <a:solidFill>
                  <a:srgbClr val="5B6B73"/>
                </a:solidFill>
              </a:rPr>
              <a:t>Builds up gradually; an episode starts when it crosses a threshold and lasts 14+ days</a:t>
            </a:r>
            <a:endParaRPr lang="en-US" sz="1500" dirty="0"/>
          </a:p>
        </p:txBody>
      </p:sp>
      <p:sp>
        <p:nvSpPr>
          <p:cNvPr id="22" name="Shape 19"/>
          <p:cNvSpPr/>
          <p:nvPr/>
        </p:nvSpPr>
        <p:spPr>
          <a:xfrm>
            <a:off x="9006840" y="4471416"/>
            <a:ext cx="0" cy="210312"/>
          </a:xfrm>
          <a:prstGeom prst="line">
            <a:avLst/>
          </a:prstGeom>
          <a:noFill/>
          <a:ln w="19050">
            <a:solidFill>
              <a:srgbClr val="5B6B73"/>
            </a:solidFill>
            <a:prstDash val="solid"/>
            <a:tailEnd type="triangle"/>
          </a:ln>
        </p:spPr>
      </p:sp>
      <p:sp>
        <p:nvSpPr>
          <p:cNvPr id="23" name="Shape 20"/>
          <p:cNvSpPr/>
          <p:nvPr/>
        </p:nvSpPr>
        <p:spPr>
          <a:xfrm>
            <a:off x="6400800" y="4700016"/>
            <a:ext cx="5212080" cy="1051560"/>
          </a:xfrm>
          <a:prstGeom prst="roundRect">
            <a:avLst>
              <a:gd name="adj" fmla="val 8696"/>
            </a:avLst>
          </a:prstGeom>
          <a:solidFill>
            <a:srgbClr val="EAF3F2"/>
          </a:solidFill>
          <a:ln w="12700">
            <a:solidFill>
              <a:srgbClr val="EAF3F2"/>
            </a:solidFill>
            <a:prstDash val="solid"/>
          </a:ln>
        </p:spPr>
      </p:sp>
      <p:sp>
        <p:nvSpPr>
          <p:cNvPr id="24" name="Text 21"/>
          <p:cNvSpPr txBox="1"/>
          <p:nvPr/>
        </p:nvSpPr>
        <p:spPr>
          <a:xfrm>
            <a:off x="6629400" y="4809744"/>
            <a:ext cx="4800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rgbClr val="14313D"/>
                </a:solidFill>
              </a:rPr>
              <a:t>What the twin sees</a:t>
            </a:r>
            <a:endParaRPr lang="en-US" sz="1500" dirty="0"/>
          </a:p>
          <a:p>
            <a:pPr marL="0" indent="0">
              <a:buNone/>
            </a:pPr>
            <a:r>
              <a:rPr lang="en-US" sz="1300" dirty="0">
                <a:solidFill>
                  <a:srgbClr val="5B6B73"/>
                </a:solidFill>
              </a:rPr>
              <a:t>Signals drifting from each person's own baseline, plus PHQ-9, diagnoses and medication</a:t>
            </a:r>
            <a:endParaRPr lang="en-US" sz="1500" dirty="0"/>
          </a:p>
        </p:txBody>
      </p:sp>
      <p:sp>
        <p:nvSpPr>
          <p:cNvPr id="25" name="Text 22"/>
          <p:cNvSpPr txBox="1"/>
          <p:nvPr/>
        </p:nvSpPr>
        <p:spPr>
          <a:xfrm>
            <a:off x="548640" y="6053328"/>
            <a:ext cx="11064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5B6B73"/>
                </a:solidFill>
              </a:rPr>
              <a:t>Synthetic data generated by src/simulator.py. Signal directions follow digital-phenotyping literature; magnitudes are modelling assumptions.</a:t>
            </a:r>
            <a:endParaRPr lang="en-US" sz="1000" dirty="0"/>
          </a:p>
        </p:txBody>
      </p:sp>
      <p:sp>
        <p:nvSpPr>
          <p:cNvPr id="3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4652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5B6B73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347472"/>
            <a:ext cx="11064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8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Personal-baseline features + XGBoost + SHAP: accurate enough to screen, transparent enough to trust</a:t>
            </a:r>
            <a:endParaRPr lang="en-US" sz="2800" dirty="0"/>
          </a:p>
        </p:txBody>
      </p:sp>
      <p:sp>
        <p:nvSpPr>
          <p:cNvPr id="4" name="Shape 1"/>
          <p:cNvSpPr/>
          <p:nvPr/>
        </p:nvSpPr>
        <p:spPr>
          <a:xfrm>
            <a:off x="548640" y="1600200"/>
            <a:ext cx="3429000" cy="2651760"/>
          </a:xfrm>
          <a:prstGeom prst="roundRect">
            <a:avLst>
              <a:gd name="adj" fmla="val 3448"/>
            </a:avLst>
          </a:prstGeom>
          <a:solidFill>
            <a:srgbClr val="EAF3F2"/>
          </a:solidFill>
          <a:ln w="12700">
            <a:solidFill>
              <a:srgbClr val="EAF3F2"/>
            </a:solidFill>
            <a:prstDash val="solid"/>
          </a:ln>
        </p:spPr>
      </p:sp>
      <p:sp>
        <p:nvSpPr>
          <p:cNvPr id="5" name="Shape 2"/>
          <p:cNvSpPr/>
          <p:nvPr/>
        </p:nvSpPr>
        <p:spPr>
          <a:xfrm>
            <a:off x="822960" y="1828800"/>
            <a:ext cx="640080" cy="640080"/>
          </a:xfrm>
          <a:prstGeom prst="ellipse">
            <a:avLst/>
          </a:prstGeom>
          <a:solidFill>
            <a:srgbClr val="0F6E6E"/>
          </a:solidFill>
          <a:ln w="12700">
            <a:solidFill>
              <a:srgbClr val="0F6E6E"/>
            </a:solidFill>
            <a:prstDash val="solid"/>
          </a:ln>
        </p:spPr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76579" y="1982419"/>
            <a:ext cx="332842" cy="332842"/>
          </a:xfrm>
          <a:prstGeom prst="rect">
            <a:avLst/>
          </a:prstGeom>
        </p:spPr>
      </p:pic>
      <p:sp>
        <p:nvSpPr>
          <p:cNvPr id="7" name="Text 3"/>
          <p:cNvSpPr txBox="1"/>
          <p:nvPr/>
        </p:nvSpPr>
        <p:spPr>
          <a:xfrm>
            <a:off x="822960" y="2606040"/>
            <a:ext cx="292608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rgbClr val="14313D"/>
                </a:solidFill>
              </a:rPr>
              <a:t>50 twin features</a:t>
            </a:r>
            <a:endParaRPr lang="en-US" sz="1600" dirty="0"/>
          </a:p>
          <a:p>
            <a:pPr marL="0" indent="0">
              <a:buNone/>
            </a:pPr>
            <a:r>
              <a:rPr lang="en-US" sz="1300" dirty="0">
                <a:solidFill>
                  <a:srgbClr val="5B6B73"/>
                </a:solidFill>
              </a:rPr>
              <a:t>Per signal: 7-day mean, deviation from personal normal (3- and 7-day), week-on-week change · Drift Index · non-wear days · EHR context</a:t>
            </a:r>
            <a:endParaRPr lang="en-US" sz="1600" dirty="0"/>
          </a:p>
        </p:txBody>
      </p:sp>
      <p:sp>
        <p:nvSpPr>
          <p:cNvPr id="8" name="Shape 4"/>
          <p:cNvSpPr/>
          <p:nvPr/>
        </p:nvSpPr>
        <p:spPr>
          <a:xfrm>
            <a:off x="4023360" y="2926080"/>
            <a:ext cx="274320" cy="0"/>
          </a:xfrm>
          <a:prstGeom prst="line">
            <a:avLst/>
          </a:prstGeom>
          <a:noFill/>
          <a:ln w="25400">
            <a:solidFill>
              <a:srgbClr val="14313D"/>
            </a:solidFill>
            <a:prstDash val="solid"/>
            <a:tailEnd type="triangle"/>
          </a:ln>
        </p:spPr>
      </p:sp>
      <p:sp>
        <p:nvSpPr>
          <p:cNvPr id="9" name="Shape 5"/>
          <p:cNvSpPr/>
          <p:nvPr/>
        </p:nvSpPr>
        <p:spPr>
          <a:xfrm>
            <a:off x="4343400" y="1600200"/>
            <a:ext cx="3429000" cy="2651760"/>
          </a:xfrm>
          <a:prstGeom prst="roundRect">
            <a:avLst>
              <a:gd name="adj" fmla="val 3448"/>
            </a:avLst>
          </a:prstGeom>
          <a:solidFill>
            <a:srgbClr val="EAF3F2"/>
          </a:solidFill>
          <a:ln w="12700">
            <a:solidFill>
              <a:srgbClr val="EAF3F2"/>
            </a:solidFill>
            <a:prstDash val="solid"/>
          </a:ln>
        </p:spPr>
      </p:sp>
      <p:sp>
        <p:nvSpPr>
          <p:cNvPr id="10" name="Shape 6"/>
          <p:cNvSpPr/>
          <p:nvPr/>
        </p:nvSpPr>
        <p:spPr>
          <a:xfrm>
            <a:off x="4617720" y="1828800"/>
            <a:ext cx="640080" cy="640080"/>
          </a:xfrm>
          <a:prstGeom prst="ellipse">
            <a:avLst/>
          </a:prstGeom>
          <a:solidFill>
            <a:srgbClr val="0F6E6E"/>
          </a:solidFill>
          <a:ln w="12700">
            <a:solidFill>
              <a:srgbClr val="0F6E6E"/>
            </a:solidFill>
            <a:prstDash val="solid"/>
          </a:ln>
        </p:spPr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71339" y="1982419"/>
            <a:ext cx="332842" cy="332842"/>
          </a:xfrm>
          <a:prstGeom prst="rect">
            <a:avLst/>
          </a:prstGeom>
        </p:spPr>
      </p:pic>
      <p:sp>
        <p:nvSpPr>
          <p:cNvPr id="12" name="Text 7"/>
          <p:cNvSpPr txBox="1"/>
          <p:nvPr/>
        </p:nvSpPr>
        <p:spPr>
          <a:xfrm>
            <a:off x="4617720" y="2606040"/>
            <a:ext cx="292608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rgbClr val="14313D"/>
                </a:solidFill>
              </a:rPr>
              <a:t>XGBoost risk engine</a:t>
            </a:r>
            <a:endParaRPr lang="en-US" sz="1600" dirty="0"/>
          </a:p>
          <a:p>
            <a:pPr marL="0" indent="0">
              <a:buNone/>
            </a:pPr>
            <a:r>
              <a:rPr lang="en-US" sz="1300" dirty="0">
                <a:solidFill>
                  <a:srgbClr val="5B6B73"/>
                </a:solidFill>
              </a:rPr>
              <a:t>350 trees, depth 4 · handles missing days natively · P(episode starts within 7 days)</a:t>
            </a:r>
            <a:endParaRPr lang="en-US" sz="1600" dirty="0"/>
          </a:p>
        </p:txBody>
      </p:sp>
      <p:sp>
        <p:nvSpPr>
          <p:cNvPr id="13" name="Shape 8"/>
          <p:cNvSpPr/>
          <p:nvPr/>
        </p:nvSpPr>
        <p:spPr>
          <a:xfrm>
            <a:off x="7818120" y="2926080"/>
            <a:ext cx="274320" cy="0"/>
          </a:xfrm>
          <a:prstGeom prst="line">
            <a:avLst/>
          </a:prstGeom>
          <a:noFill/>
          <a:ln w="25400">
            <a:solidFill>
              <a:srgbClr val="14313D"/>
            </a:solidFill>
            <a:prstDash val="solid"/>
            <a:tailEnd type="triangle"/>
          </a:ln>
        </p:spPr>
      </p:sp>
      <p:sp>
        <p:nvSpPr>
          <p:cNvPr id="14" name="Shape 9"/>
          <p:cNvSpPr/>
          <p:nvPr/>
        </p:nvSpPr>
        <p:spPr>
          <a:xfrm>
            <a:off x="8138160" y="1600200"/>
            <a:ext cx="3429000" cy="2651760"/>
          </a:xfrm>
          <a:prstGeom prst="roundRect">
            <a:avLst>
              <a:gd name="adj" fmla="val 3448"/>
            </a:avLst>
          </a:prstGeom>
          <a:solidFill>
            <a:srgbClr val="EAF3F2"/>
          </a:solidFill>
          <a:ln w="12700">
            <a:solidFill>
              <a:srgbClr val="EAF3F2"/>
            </a:solidFill>
            <a:prstDash val="solid"/>
          </a:ln>
        </p:spPr>
      </p:sp>
      <p:sp>
        <p:nvSpPr>
          <p:cNvPr id="15" name="Shape 10"/>
          <p:cNvSpPr/>
          <p:nvPr/>
        </p:nvSpPr>
        <p:spPr>
          <a:xfrm>
            <a:off x="8412480" y="1828800"/>
            <a:ext cx="640080" cy="640080"/>
          </a:xfrm>
          <a:prstGeom prst="ellipse">
            <a:avLst/>
          </a:prstGeom>
          <a:solidFill>
            <a:srgbClr val="0F6E6E"/>
          </a:solidFill>
          <a:ln w="12700">
            <a:solidFill>
              <a:srgbClr val="0F6E6E"/>
            </a:solidFill>
            <a:prstDash val="solid"/>
          </a:ln>
        </p:spPr>
      </p:sp>
      <p:pic>
        <p:nvPicPr>
          <p:cNvPr id="16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566099" y="1982419"/>
            <a:ext cx="332842" cy="332842"/>
          </a:xfrm>
          <a:prstGeom prst="rect">
            <a:avLst/>
          </a:prstGeom>
        </p:spPr>
      </p:pic>
      <p:sp>
        <p:nvSpPr>
          <p:cNvPr id="17" name="Text 11"/>
          <p:cNvSpPr txBox="1"/>
          <p:nvPr/>
        </p:nvSpPr>
        <p:spPr>
          <a:xfrm>
            <a:off x="8412480" y="2606040"/>
            <a:ext cx="292608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rgbClr val="14313D"/>
                </a:solidFill>
              </a:rPr>
              <a:t>SHAP + alert bands</a:t>
            </a:r>
            <a:endParaRPr lang="en-US" sz="1600" dirty="0"/>
          </a:p>
          <a:p>
            <a:pPr marL="0" indent="0">
              <a:buNone/>
            </a:pPr>
            <a:r>
              <a:rPr lang="en-US" sz="1300" dirty="0">
                <a:solidFill>
                  <a:srgbClr val="5B6B73"/>
                </a:solidFill>
              </a:rPr>
              <a:t>Reasons for every score · Early warning at ≥3% risk (≈3× base rate), Watch at half that</a:t>
            </a:r>
            <a:endParaRPr lang="en-US" sz="1600" dirty="0"/>
          </a:p>
        </p:txBody>
      </p:sp>
      <p:sp>
        <p:nvSpPr>
          <p:cNvPr id="18" name="Shape 12"/>
          <p:cNvSpPr/>
          <p:nvPr/>
        </p:nvSpPr>
        <p:spPr>
          <a:xfrm>
            <a:off x="548640" y="4526280"/>
            <a:ext cx="11018520" cy="137160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0F6E6E"/>
            </a:solidFill>
            <a:prstDash val="solid"/>
          </a:ln>
        </p:spPr>
      </p:sp>
      <p:sp>
        <p:nvSpPr>
          <p:cNvPr id="19" name="Shape 13"/>
          <p:cNvSpPr/>
          <p:nvPr/>
        </p:nvSpPr>
        <p:spPr>
          <a:xfrm>
            <a:off x="822960" y="4892040"/>
            <a:ext cx="640080" cy="640080"/>
          </a:xfrm>
          <a:prstGeom prst="ellipse">
            <a:avLst/>
          </a:prstGeom>
          <a:solidFill>
            <a:srgbClr val="5B6B73"/>
          </a:solidFill>
          <a:ln w="12700">
            <a:solidFill>
              <a:srgbClr val="5B6B73"/>
            </a:solidFill>
            <a:prstDash val="solid"/>
          </a:ln>
        </p:spPr>
      </p:sp>
      <p:pic>
        <p:nvPicPr>
          <p:cNvPr id="20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76579" y="5045659"/>
            <a:ext cx="332842" cy="332842"/>
          </a:xfrm>
          <a:prstGeom prst="rect">
            <a:avLst/>
          </a:prstGeom>
        </p:spPr>
      </p:pic>
      <p:sp>
        <p:nvSpPr>
          <p:cNvPr id="21" name="Text 14"/>
          <p:cNvSpPr txBox="1"/>
          <p:nvPr/>
        </p:nvSpPr>
        <p:spPr>
          <a:xfrm>
            <a:off x="1691640" y="4663440"/>
            <a:ext cx="969264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rgbClr val="14313D"/>
                </a:solidFill>
              </a:rPr>
              <a:t>Fair test</a:t>
            </a:r>
            <a:endParaRPr lang="en-US" sz="1600" dirty="0"/>
          </a:p>
          <a:p>
            <a:pPr marL="0" indent="0">
              <a:buNone/>
            </a:pPr>
            <a:r>
              <a:rPr lang="en-US" sz="1400" dirty="0">
                <a:solidFill>
                  <a:srgbClr val="5B6B73"/>
                </a:solidFill>
              </a:rPr>
              <a:t>Split by person: 420 train / 180 unseen test. Threshold fixed on validation people at 95% specificity. Benchmarked against an identical model without personal-baseline features (the 'population model').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4652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5B6B73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347472"/>
            <a:ext cx="11064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8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Personalisation catches more episodes in advance with about 25% fewer false alerts</a:t>
            </a:r>
            <a:endParaRPr lang="en-US" sz="2800" dirty="0"/>
          </a:p>
        </p:txBody>
      </p:sp>
      <p:graphicFrame>
        <p:nvGraphicFramePr>
          <p:cNvPr id="4" name="Chart 0"/>
          <p:cNvGraphicFramePr/>
          <p:nvPr/>
        </p:nvGraphicFramePr>
        <p:xfrm>
          <a:off x="548640" y="1554480"/>
          <a:ext cx="3566160" cy="429768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5" name="Chart 1"/>
          <p:cNvGraphicFramePr/>
          <p:nvPr/>
        </p:nvGraphicFramePr>
        <p:xfrm>
          <a:off x="4297680" y="1554480"/>
          <a:ext cx="3566160" cy="429768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6" name="Shape 1"/>
          <p:cNvSpPr/>
          <p:nvPr/>
        </p:nvSpPr>
        <p:spPr>
          <a:xfrm>
            <a:off x="8229600" y="1600200"/>
            <a:ext cx="3383280" cy="1280160"/>
          </a:xfrm>
          <a:prstGeom prst="roundRect">
            <a:avLst>
              <a:gd name="adj" fmla="val 7143"/>
            </a:avLst>
          </a:prstGeom>
          <a:solidFill>
            <a:srgbClr val="EAF3F2"/>
          </a:solidFill>
          <a:ln w="12700">
            <a:solidFill>
              <a:srgbClr val="EAF3F2"/>
            </a:solidFill>
            <a:prstDash val="solid"/>
          </a:ln>
        </p:spPr>
      </p:sp>
      <p:sp>
        <p:nvSpPr>
          <p:cNvPr id="7" name="Text 2"/>
          <p:cNvSpPr txBox="1"/>
          <p:nvPr/>
        </p:nvSpPr>
        <p:spPr>
          <a:xfrm>
            <a:off x="8458200" y="1691640"/>
            <a:ext cx="29260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000" b="1" dirty="0">
                <a:solidFill>
                  <a:srgbClr val="0F6E6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0.85</a:t>
            </a:r>
            <a:endParaRPr lang="en-US" sz="3000" dirty="0"/>
          </a:p>
        </p:txBody>
      </p:sp>
      <p:sp>
        <p:nvSpPr>
          <p:cNvPr id="8" name="Text 3"/>
          <p:cNvSpPr txBox="1"/>
          <p:nvPr/>
        </p:nvSpPr>
        <p:spPr>
          <a:xfrm>
            <a:off x="8458200" y="2286000"/>
            <a:ext cx="30175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14313D"/>
                </a:solidFill>
              </a:rPr>
              <a:t>AUROC on unseen synthetic people (population model 0.81)</a:t>
            </a:r>
            <a:endParaRPr lang="en-US" sz="1200" dirty="0"/>
          </a:p>
        </p:txBody>
      </p:sp>
      <p:sp>
        <p:nvSpPr>
          <p:cNvPr id="9" name="Shape 4"/>
          <p:cNvSpPr/>
          <p:nvPr/>
        </p:nvSpPr>
        <p:spPr>
          <a:xfrm>
            <a:off x="8229600" y="3063240"/>
            <a:ext cx="3383280" cy="1280160"/>
          </a:xfrm>
          <a:prstGeom prst="roundRect">
            <a:avLst>
              <a:gd name="adj" fmla="val 7143"/>
            </a:avLst>
          </a:prstGeom>
          <a:solidFill>
            <a:srgbClr val="EAF3F2"/>
          </a:solidFill>
          <a:ln w="12700">
            <a:solidFill>
              <a:srgbClr val="EAF3F2"/>
            </a:solidFill>
            <a:prstDash val="solid"/>
          </a:ln>
        </p:spPr>
      </p:sp>
      <p:sp>
        <p:nvSpPr>
          <p:cNvPr id="10" name="Text 5"/>
          <p:cNvSpPr txBox="1"/>
          <p:nvPr/>
        </p:nvSpPr>
        <p:spPr>
          <a:xfrm>
            <a:off x="8458200" y="3154680"/>
            <a:ext cx="29260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000" b="1" dirty="0">
                <a:solidFill>
                  <a:srgbClr val="0F6E6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 days</a:t>
            </a:r>
            <a:endParaRPr lang="en-US" sz="3000" dirty="0"/>
          </a:p>
        </p:txBody>
      </p:sp>
      <p:sp>
        <p:nvSpPr>
          <p:cNvPr id="11" name="Text 6"/>
          <p:cNvSpPr txBox="1"/>
          <p:nvPr/>
        </p:nvSpPr>
        <p:spPr>
          <a:xfrm>
            <a:off x="8458200" y="3749040"/>
            <a:ext cx="30175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14313D"/>
                </a:solidFill>
              </a:rPr>
              <a:t>median warning before the episode begins</a:t>
            </a:r>
            <a:endParaRPr lang="en-US" sz="1200" dirty="0"/>
          </a:p>
        </p:txBody>
      </p:sp>
      <p:sp>
        <p:nvSpPr>
          <p:cNvPr id="12" name="Shape 7"/>
          <p:cNvSpPr/>
          <p:nvPr/>
        </p:nvSpPr>
        <p:spPr>
          <a:xfrm>
            <a:off x="8229600" y="4526280"/>
            <a:ext cx="3383280" cy="1280160"/>
          </a:xfrm>
          <a:prstGeom prst="roundRect">
            <a:avLst>
              <a:gd name="adj" fmla="val 7143"/>
            </a:avLst>
          </a:prstGeom>
          <a:solidFill>
            <a:srgbClr val="FBF0DE"/>
          </a:solidFill>
          <a:ln w="12700">
            <a:solidFill>
              <a:srgbClr val="FBF0DE"/>
            </a:solidFill>
            <a:prstDash val="solid"/>
          </a:ln>
        </p:spPr>
      </p:sp>
      <p:sp>
        <p:nvSpPr>
          <p:cNvPr id="13" name="Text 8"/>
          <p:cNvSpPr txBox="1"/>
          <p:nvPr/>
        </p:nvSpPr>
        <p:spPr>
          <a:xfrm>
            <a:off x="8458200" y="4617720"/>
            <a:ext cx="29260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000" b="1" dirty="0">
                <a:solidFill>
                  <a:srgbClr val="143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0.82</a:t>
            </a:r>
            <a:endParaRPr lang="en-US" sz="3000" dirty="0"/>
          </a:p>
        </p:txBody>
      </p:sp>
      <p:sp>
        <p:nvSpPr>
          <p:cNvPr id="14" name="Text 9"/>
          <p:cNvSpPr txBox="1"/>
          <p:nvPr/>
        </p:nvSpPr>
        <p:spPr>
          <a:xfrm>
            <a:off x="8458200" y="5212080"/>
            <a:ext cx="30175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14313D"/>
                </a:solidFill>
              </a:rPr>
              <a:t>AUROC on REAL wrist-actigraphy, depressed vs control (55 people, 95% CI 0.71–0.92)</a:t>
            </a:r>
            <a:endParaRPr lang="en-US" sz="1200" dirty="0"/>
          </a:p>
        </p:txBody>
      </p:sp>
      <p:sp>
        <p:nvSpPr>
          <p:cNvPr id="15" name="Text 10"/>
          <p:cNvSpPr txBox="1"/>
          <p:nvPr/>
        </p:nvSpPr>
        <p:spPr>
          <a:xfrm>
            <a:off x="548640" y="6053328"/>
            <a:ext cx="11064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5B6B73"/>
                </a:solidFill>
              </a:rPr>
              <a:t>Charts: synthetic held-out test set (180 people, 40 evaluable episodes). Real-data check: public DEPRESJON dataset (Garcia-Ceja et al., 2018), leave-one-person-out; it tests the features, not the 7-day early warning.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4652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5B6B73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347472"/>
            <a:ext cx="11064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8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For one student, the twin raised the alarm 7 days before onset; usual care diagnosed 19 days after</a:t>
            </a:r>
            <a:endParaRPr lang="en-US" sz="2800" dirty="0"/>
          </a:p>
        </p:txBody>
      </p:sp>
      <p:graphicFrame>
        <p:nvGraphicFramePr>
          <p:cNvPr id="4" name="Chart 0"/>
          <p:cNvGraphicFramePr/>
          <p:nvPr/>
        </p:nvGraphicFramePr>
        <p:xfrm>
          <a:off x="548640" y="1508760"/>
          <a:ext cx="7040880" cy="44348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5" name="Shape 1"/>
          <p:cNvSpPr/>
          <p:nvPr/>
        </p:nvSpPr>
        <p:spPr>
          <a:xfrm>
            <a:off x="7955280" y="1719072"/>
            <a:ext cx="274320" cy="274320"/>
          </a:xfrm>
          <a:prstGeom prst="ellipse">
            <a:avLst/>
          </a:prstGeom>
          <a:solidFill>
            <a:srgbClr val="C8553D"/>
          </a:solidFill>
          <a:ln w="12700">
            <a:solidFill>
              <a:srgbClr val="C8553D"/>
            </a:solidFill>
            <a:prstDash val="solid"/>
          </a:ln>
        </p:spPr>
      </p:sp>
      <p:sp>
        <p:nvSpPr>
          <p:cNvPr id="6" name="Shape 2"/>
          <p:cNvSpPr/>
          <p:nvPr/>
        </p:nvSpPr>
        <p:spPr>
          <a:xfrm>
            <a:off x="8092440" y="2029968"/>
            <a:ext cx="0" cy="1051560"/>
          </a:xfrm>
          <a:prstGeom prst="line">
            <a:avLst/>
          </a:prstGeom>
          <a:noFill/>
          <a:ln w="19050">
            <a:solidFill>
              <a:srgbClr val="B9C4C4"/>
            </a:solidFill>
            <a:prstDash val="solid"/>
          </a:ln>
        </p:spPr>
      </p:sp>
      <p:sp>
        <p:nvSpPr>
          <p:cNvPr id="7" name="Text 3"/>
          <p:cNvSpPr txBox="1"/>
          <p:nvPr/>
        </p:nvSpPr>
        <p:spPr>
          <a:xfrm>
            <a:off x="8412480" y="1645920"/>
            <a:ext cx="32004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rgbClr val="C8553D"/>
                </a:solidFill>
              </a:rPr>
              <a:t>21 Apr  </a:t>
            </a:r>
            <a:r>
              <a:rPr lang="en-US" sz="1500" b="1" dirty="0">
                <a:solidFill>
                  <a:srgbClr val="14313D"/>
                </a:solidFill>
              </a:rPr>
              <a:t>Twin: Early warning</a:t>
            </a:r>
            <a:endParaRPr lang="en-US" sz="1500" dirty="0"/>
          </a:p>
          <a:p>
            <a:pPr marL="0" indent="0">
              <a:buNone/>
            </a:pPr>
            <a:r>
              <a:rPr lang="en-US" sz="1300" dirty="0">
                <a:solidFill>
                  <a:srgbClr val="5B6B73"/>
                </a:solidFill>
              </a:rPr>
              <a:t>Sleep and steps falling below his own normal during exams</a:t>
            </a:r>
            <a:endParaRPr lang="en-US" sz="1500" dirty="0"/>
          </a:p>
        </p:txBody>
      </p:sp>
      <p:sp>
        <p:nvSpPr>
          <p:cNvPr id="8" name="Shape 4"/>
          <p:cNvSpPr/>
          <p:nvPr/>
        </p:nvSpPr>
        <p:spPr>
          <a:xfrm>
            <a:off x="7955280" y="3136392"/>
            <a:ext cx="274320" cy="274320"/>
          </a:xfrm>
          <a:prstGeom prst="ellipse">
            <a:avLst/>
          </a:prstGeom>
          <a:solidFill>
            <a:srgbClr val="14313D"/>
          </a:solidFill>
          <a:ln w="12700">
            <a:solidFill>
              <a:srgbClr val="14313D"/>
            </a:solidFill>
            <a:prstDash val="solid"/>
          </a:ln>
        </p:spPr>
      </p:sp>
      <p:sp>
        <p:nvSpPr>
          <p:cNvPr id="9" name="Shape 5"/>
          <p:cNvSpPr/>
          <p:nvPr/>
        </p:nvSpPr>
        <p:spPr>
          <a:xfrm>
            <a:off x="8092440" y="3447288"/>
            <a:ext cx="0" cy="1051560"/>
          </a:xfrm>
          <a:prstGeom prst="line">
            <a:avLst/>
          </a:prstGeom>
          <a:noFill/>
          <a:ln w="19050">
            <a:solidFill>
              <a:srgbClr val="B9C4C4"/>
            </a:solidFill>
            <a:prstDash val="solid"/>
          </a:ln>
        </p:spPr>
      </p:sp>
      <p:sp>
        <p:nvSpPr>
          <p:cNvPr id="10" name="Text 6"/>
          <p:cNvSpPr txBox="1"/>
          <p:nvPr/>
        </p:nvSpPr>
        <p:spPr>
          <a:xfrm>
            <a:off x="8412480" y="3063240"/>
            <a:ext cx="32004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rgbClr val="14313D"/>
                </a:solidFill>
              </a:rPr>
              <a:t>28 Apr  Episode begins</a:t>
            </a:r>
            <a:endParaRPr lang="en-US" sz="1500" dirty="0"/>
          </a:p>
          <a:p>
            <a:pPr marL="0" indent="0">
              <a:buNone/>
            </a:pPr>
            <a:r>
              <a:rPr lang="en-US" sz="1300" dirty="0">
                <a:solidFill>
                  <a:srgbClr val="5B6B73"/>
                </a:solidFill>
              </a:rPr>
              <a:t>Ground truth from the simulator, hidden from the twin</a:t>
            </a:r>
            <a:endParaRPr lang="en-US" sz="1500" dirty="0"/>
          </a:p>
        </p:txBody>
      </p:sp>
      <p:sp>
        <p:nvSpPr>
          <p:cNvPr id="11" name="Shape 7"/>
          <p:cNvSpPr/>
          <p:nvPr/>
        </p:nvSpPr>
        <p:spPr>
          <a:xfrm>
            <a:off x="7955280" y="4553712"/>
            <a:ext cx="274320" cy="274320"/>
          </a:xfrm>
          <a:prstGeom prst="ellipse">
            <a:avLst/>
          </a:prstGeom>
          <a:solidFill>
            <a:srgbClr val="5B6B73"/>
          </a:solidFill>
          <a:ln w="12700">
            <a:solidFill>
              <a:srgbClr val="5B6B73"/>
            </a:solidFill>
            <a:prstDash val="solid"/>
          </a:ln>
        </p:spPr>
      </p:sp>
      <p:sp>
        <p:nvSpPr>
          <p:cNvPr id="12" name="Text 8"/>
          <p:cNvSpPr txBox="1"/>
          <p:nvPr/>
        </p:nvSpPr>
        <p:spPr>
          <a:xfrm>
            <a:off x="8412480" y="4480560"/>
            <a:ext cx="32004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rgbClr val="5B6B73"/>
                </a:solidFill>
              </a:rPr>
              <a:t>17 May  </a:t>
            </a:r>
            <a:r>
              <a:rPr lang="en-US" sz="1500" b="1" dirty="0">
                <a:solidFill>
                  <a:srgbClr val="14313D"/>
                </a:solidFill>
              </a:rPr>
              <a:t>Usual care: diagnosis</a:t>
            </a:r>
            <a:endParaRPr lang="en-US" sz="1500" dirty="0"/>
          </a:p>
          <a:p>
            <a:pPr marL="0" indent="0">
              <a:buNone/>
            </a:pPr>
            <a:r>
              <a:rPr lang="en-US" sz="1300" dirty="0">
                <a:solidFill>
                  <a:srgbClr val="5B6B73"/>
                </a:solidFill>
              </a:rPr>
              <a:t>PHQ-9 of 16 at clinic, escitalopram started</a:t>
            </a:r>
            <a:endParaRPr lang="en-US" sz="1500" dirty="0"/>
          </a:p>
        </p:txBody>
      </p:sp>
      <p:sp>
        <p:nvSpPr>
          <p:cNvPr id="13" name="Shape 9"/>
          <p:cNvSpPr/>
          <p:nvPr/>
        </p:nvSpPr>
        <p:spPr>
          <a:xfrm>
            <a:off x="7955280" y="5532120"/>
            <a:ext cx="3657600" cy="457200"/>
          </a:xfrm>
          <a:prstGeom prst="roundRect">
            <a:avLst>
              <a:gd name="adj" fmla="val 20000"/>
            </a:avLst>
          </a:prstGeom>
          <a:solidFill>
            <a:srgbClr val="FBF0DE"/>
          </a:solidFill>
          <a:ln w="12700">
            <a:solidFill>
              <a:srgbClr val="FBF0DE"/>
            </a:solidFill>
            <a:prstDash val="solid"/>
          </a:ln>
        </p:spPr>
      </p:sp>
      <p:sp>
        <p:nvSpPr>
          <p:cNvPr id="14" name="Text 10"/>
          <p:cNvSpPr txBox="1"/>
          <p:nvPr/>
        </p:nvSpPr>
        <p:spPr>
          <a:xfrm>
            <a:off x="8092440" y="5532120"/>
            <a:ext cx="3474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4313D"/>
                </a:solidFill>
              </a:rPr>
              <a:t>26 days of possible earlier support</a:t>
            </a:r>
            <a:endParaRPr lang="en-US" sz="1400" dirty="0"/>
          </a:p>
        </p:txBody>
      </p:sp>
      <p:sp>
        <p:nvSpPr>
          <p:cNvPr id="15" name="Text 11"/>
          <p:cNvSpPr txBox="1"/>
          <p:nvPr/>
        </p:nvSpPr>
        <p:spPr>
          <a:xfrm>
            <a:off x="548640" y="6053328"/>
            <a:ext cx="11064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5B6B73"/>
                </a:solidFill>
              </a:rPr>
              <a:t>Synthetic test-set patient. Risk values calculated by the trained twin model.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4652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5B6B73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347472"/>
            <a:ext cx="11064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8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healthier week moves the same student from early warning back to stable</a:t>
            </a:r>
            <a:endParaRPr lang="en-US" sz="2800" dirty="0"/>
          </a:p>
        </p:txBody>
      </p:sp>
      <p:sp>
        <p:nvSpPr>
          <p:cNvPr id="4" name="Text 1"/>
          <p:cNvSpPr txBox="1"/>
          <p:nvPr/>
        </p:nvSpPr>
        <p:spPr>
          <a:xfrm>
            <a:off x="548640" y="155448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b="1" dirty="0">
                <a:solidFill>
                  <a:srgbClr val="14313D"/>
                </a:solidFill>
              </a:rPr>
              <a:t>Scenario applied to his last 7 days</a:t>
            </a:r>
            <a:endParaRPr lang="en-US" sz="1800" dirty="0"/>
          </a:p>
        </p:txBody>
      </p:sp>
      <p:sp>
        <p:nvSpPr>
          <p:cNvPr id="5" name="Shape 2"/>
          <p:cNvSpPr/>
          <p:nvPr/>
        </p:nvSpPr>
        <p:spPr>
          <a:xfrm>
            <a:off x="548640" y="2103120"/>
            <a:ext cx="530352" cy="530352"/>
          </a:xfrm>
          <a:prstGeom prst="ellipse">
            <a:avLst/>
          </a:prstGeom>
          <a:solidFill>
            <a:srgbClr val="0F6E6E"/>
          </a:solidFill>
          <a:ln w="12700">
            <a:solidFill>
              <a:srgbClr val="0F6E6E"/>
            </a:solidFill>
            <a:prstDash val="solid"/>
          </a:ln>
        </p:spPr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5924" y="2230404"/>
            <a:ext cx="275783" cy="275783"/>
          </a:xfrm>
          <a:prstGeom prst="rect">
            <a:avLst/>
          </a:prstGeom>
        </p:spPr>
      </p:pic>
      <p:sp>
        <p:nvSpPr>
          <p:cNvPr id="7" name="Text 3"/>
          <p:cNvSpPr txBox="1"/>
          <p:nvPr/>
        </p:nvSpPr>
        <p:spPr>
          <a:xfrm>
            <a:off x="1280160" y="2103120"/>
            <a:ext cx="45720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14313D"/>
                </a:solidFill>
              </a:rPr>
              <a:t>+1 hour of sleep per night</a:t>
            </a:r>
            <a:endParaRPr lang="en-US" sz="1600" dirty="0"/>
          </a:p>
        </p:txBody>
      </p:sp>
      <p:sp>
        <p:nvSpPr>
          <p:cNvPr id="8" name="Shape 4"/>
          <p:cNvSpPr/>
          <p:nvPr/>
        </p:nvSpPr>
        <p:spPr>
          <a:xfrm>
            <a:off x="548640" y="2852928"/>
            <a:ext cx="530352" cy="530352"/>
          </a:xfrm>
          <a:prstGeom prst="ellipse">
            <a:avLst/>
          </a:prstGeom>
          <a:solidFill>
            <a:srgbClr val="0F6E6E"/>
          </a:solidFill>
          <a:ln w="12700">
            <a:solidFill>
              <a:srgbClr val="0F6E6E"/>
            </a:solidFill>
            <a:prstDash val="solid"/>
          </a:ln>
        </p:spPr>
      </p:sp>
      <p:pic>
        <p:nvPicPr>
          <p:cNvPr id="9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5924" y="2980212"/>
            <a:ext cx="275783" cy="275783"/>
          </a:xfrm>
          <a:prstGeom prst="rect">
            <a:avLst/>
          </a:prstGeom>
        </p:spPr>
      </p:pic>
      <p:sp>
        <p:nvSpPr>
          <p:cNvPr id="10" name="Text 5"/>
          <p:cNvSpPr txBox="1"/>
          <p:nvPr/>
        </p:nvSpPr>
        <p:spPr>
          <a:xfrm>
            <a:off x="1280160" y="2852928"/>
            <a:ext cx="45720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14313D"/>
                </a:solidFill>
              </a:rPr>
              <a:t>Bedtime 45 minutes earlier</a:t>
            </a:r>
            <a:endParaRPr lang="en-US" sz="1600" dirty="0"/>
          </a:p>
        </p:txBody>
      </p:sp>
      <p:sp>
        <p:nvSpPr>
          <p:cNvPr id="11" name="Shape 6"/>
          <p:cNvSpPr/>
          <p:nvPr/>
        </p:nvSpPr>
        <p:spPr>
          <a:xfrm>
            <a:off x="548640" y="3602736"/>
            <a:ext cx="530352" cy="530352"/>
          </a:xfrm>
          <a:prstGeom prst="ellipse">
            <a:avLst/>
          </a:prstGeom>
          <a:solidFill>
            <a:srgbClr val="0F6E6E"/>
          </a:solidFill>
          <a:ln w="12700">
            <a:solidFill>
              <a:srgbClr val="0F6E6E"/>
            </a:solidFill>
            <a:prstDash val="solid"/>
          </a:ln>
        </p:spPr>
      </p:sp>
      <p:pic>
        <p:nvPicPr>
          <p:cNvPr id="12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75924" y="3730020"/>
            <a:ext cx="275783" cy="275783"/>
          </a:xfrm>
          <a:prstGeom prst="rect">
            <a:avLst/>
          </a:prstGeom>
        </p:spPr>
      </p:pic>
      <p:sp>
        <p:nvSpPr>
          <p:cNvPr id="13" name="Text 7"/>
          <p:cNvSpPr txBox="1"/>
          <p:nvPr/>
        </p:nvSpPr>
        <p:spPr>
          <a:xfrm>
            <a:off x="1280160" y="3602736"/>
            <a:ext cx="45720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14313D"/>
                </a:solidFill>
              </a:rPr>
              <a:t>+3,000 steps a day</a:t>
            </a:r>
            <a:endParaRPr lang="en-US" sz="1600" dirty="0"/>
          </a:p>
        </p:txBody>
      </p:sp>
      <p:sp>
        <p:nvSpPr>
          <p:cNvPr id="14" name="Shape 8"/>
          <p:cNvSpPr/>
          <p:nvPr/>
        </p:nvSpPr>
        <p:spPr>
          <a:xfrm>
            <a:off x="548640" y="4352544"/>
            <a:ext cx="530352" cy="530352"/>
          </a:xfrm>
          <a:prstGeom prst="ellipse">
            <a:avLst/>
          </a:prstGeom>
          <a:solidFill>
            <a:srgbClr val="0F6E6E"/>
          </a:solidFill>
          <a:ln w="12700">
            <a:solidFill>
              <a:srgbClr val="0F6E6E"/>
            </a:solidFill>
            <a:prstDash val="solid"/>
          </a:ln>
        </p:spPr>
      </p:sp>
      <p:pic>
        <p:nvPicPr>
          <p:cNvPr id="15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75924" y="4479828"/>
            <a:ext cx="275783" cy="275783"/>
          </a:xfrm>
          <a:prstGeom prst="rect">
            <a:avLst/>
          </a:prstGeom>
        </p:spPr>
      </p:pic>
      <p:sp>
        <p:nvSpPr>
          <p:cNvPr id="16" name="Text 9"/>
          <p:cNvSpPr txBox="1"/>
          <p:nvPr/>
        </p:nvSpPr>
        <p:spPr>
          <a:xfrm>
            <a:off x="1280160" y="4352544"/>
            <a:ext cx="45720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14313D"/>
                </a:solidFill>
              </a:rPr>
              <a:t>45 fewer minutes on the phone after 11 pm</a:t>
            </a:r>
            <a:endParaRPr lang="en-US" sz="1600" dirty="0"/>
          </a:p>
        </p:txBody>
      </p:sp>
      <p:sp>
        <p:nvSpPr>
          <p:cNvPr id="17" name="Shape 10"/>
          <p:cNvSpPr/>
          <p:nvPr/>
        </p:nvSpPr>
        <p:spPr>
          <a:xfrm>
            <a:off x="548640" y="5102352"/>
            <a:ext cx="530352" cy="530352"/>
          </a:xfrm>
          <a:prstGeom prst="ellipse">
            <a:avLst/>
          </a:prstGeom>
          <a:solidFill>
            <a:srgbClr val="0F6E6E"/>
          </a:solidFill>
          <a:ln w="12700">
            <a:solidFill>
              <a:srgbClr val="0F6E6E"/>
            </a:solidFill>
            <a:prstDash val="solid"/>
          </a:ln>
        </p:spPr>
      </p:sp>
      <p:pic>
        <p:nvPicPr>
          <p:cNvPr id="18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75924" y="5229636"/>
            <a:ext cx="275783" cy="275783"/>
          </a:xfrm>
          <a:prstGeom prst="rect">
            <a:avLst/>
          </a:prstGeom>
        </p:spPr>
      </p:pic>
      <p:sp>
        <p:nvSpPr>
          <p:cNvPr id="19" name="Text 11"/>
          <p:cNvSpPr txBox="1"/>
          <p:nvPr/>
        </p:nvSpPr>
        <p:spPr>
          <a:xfrm>
            <a:off x="1280160" y="5102352"/>
            <a:ext cx="45720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14313D"/>
                </a:solidFill>
              </a:rPr>
              <a:t>+5 social contacts a day</a:t>
            </a:r>
            <a:endParaRPr lang="en-US" sz="1600" dirty="0"/>
          </a:p>
        </p:txBody>
      </p:sp>
      <p:graphicFrame>
        <p:nvGraphicFramePr>
          <p:cNvPr id="20" name="Chart 0"/>
          <p:cNvGraphicFramePr/>
          <p:nvPr/>
        </p:nvGraphicFramePr>
        <p:xfrm>
          <a:off x="6309360" y="1554480"/>
          <a:ext cx="5303520" cy="43434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8"/>
          </a:graphicData>
        </a:graphic>
      </p:graphicFrame>
      <p:sp>
        <p:nvSpPr>
          <p:cNvPr id="21" name="Text 12"/>
          <p:cNvSpPr txBox="1"/>
          <p:nvPr/>
        </p:nvSpPr>
        <p:spPr>
          <a:xfrm>
            <a:off x="548640" y="6053328"/>
            <a:ext cx="11064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5B6B73"/>
                </a:solidFill>
              </a:rPr>
              <a:t>Model-based sensitivity analysis on the synthetic test patient: shows how the estimate responds, not a guaranteed causal effect.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4652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5B6B73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347472"/>
            <a:ext cx="11064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8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Safe by design: consent-first, human-in-the-loop, and no suicide-risk prediction</a:t>
            </a:r>
            <a:endParaRPr lang="en-US" sz="2800" dirty="0"/>
          </a:p>
        </p:txBody>
      </p:sp>
      <p:sp>
        <p:nvSpPr>
          <p:cNvPr id="4" name="Shape 1"/>
          <p:cNvSpPr/>
          <p:nvPr/>
        </p:nvSpPr>
        <p:spPr>
          <a:xfrm>
            <a:off x="548640" y="1600200"/>
            <a:ext cx="3520440" cy="1783080"/>
          </a:xfrm>
          <a:prstGeom prst="roundRect">
            <a:avLst>
              <a:gd name="adj" fmla="val 5128"/>
            </a:avLst>
          </a:prstGeom>
          <a:solidFill>
            <a:srgbClr val="EAF3F2"/>
          </a:solidFill>
          <a:ln w="12700">
            <a:solidFill>
              <a:srgbClr val="EAF3F2"/>
            </a:solidFill>
            <a:prstDash val="solid"/>
          </a:ln>
        </p:spPr>
      </p:sp>
      <p:sp>
        <p:nvSpPr>
          <p:cNvPr id="5" name="Shape 2"/>
          <p:cNvSpPr/>
          <p:nvPr/>
        </p:nvSpPr>
        <p:spPr>
          <a:xfrm>
            <a:off x="777240" y="1828800"/>
            <a:ext cx="548640" cy="548640"/>
          </a:xfrm>
          <a:prstGeom prst="ellipse">
            <a:avLst/>
          </a:prstGeom>
          <a:solidFill>
            <a:srgbClr val="0F6E6E"/>
          </a:solidFill>
          <a:ln w="12700">
            <a:solidFill>
              <a:srgbClr val="0F6E6E"/>
            </a:solidFill>
            <a:prstDash val="solid"/>
          </a:ln>
        </p:spPr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08914" y="1960474"/>
            <a:ext cx="285293" cy="285293"/>
          </a:xfrm>
          <a:prstGeom prst="rect">
            <a:avLst/>
          </a:prstGeom>
        </p:spPr>
      </p:pic>
      <p:sp>
        <p:nvSpPr>
          <p:cNvPr id="7" name="Text 3"/>
          <p:cNvSpPr txBox="1"/>
          <p:nvPr/>
        </p:nvSpPr>
        <p:spPr>
          <a:xfrm>
            <a:off x="1463040" y="1828800"/>
            <a:ext cx="2468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4313D"/>
                </a:solidFill>
              </a:rPr>
              <a:t>Consent-first</a:t>
            </a:r>
            <a:endParaRPr lang="en-US" sz="1600" dirty="0"/>
          </a:p>
        </p:txBody>
      </p:sp>
      <p:sp>
        <p:nvSpPr>
          <p:cNvPr id="8" name="Text 4"/>
          <p:cNvSpPr txBox="1"/>
          <p:nvPr/>
        </p:nvSpPr>
        <p:spPr>
          <a:xfrm>
            <a:off x="777240" y="2514600"/>
            <a:ext cx="31089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5B6B73"/>
                </a:solidFill>
              </a:rPr>
              <a:t>Explicit, revocable consent aligned with DPDP Act 2023 and ABDM consent flows</a:t>
            </a:r>
            <a:endParaRPr lang="en-US" sz="1300" dirty="0"/>
          </a:p>
        </p:txBody>
      </p:sp>
      <p:sp>
        <p:nvSpPr>
          <p:cNvPr id="9" name="Shape 5"/>
          <p:cNvSpPr/>
          <p:nvPr/>
        </p:nvSpPr>
        <p:spPr>
          <a:xfrm>
            <a:off x="4297680" y="1600200"/>
            <a:ext cx="3520440" cy="1783080"/>
          </a:xfrm>
          <a:prstGeom prst="roundRect">
            <a:avLst>
              <a:gd name="adj" fmla="val 5128"/>
            </a:avLst>
          </a:prstGeom>
          <a:solidFill>
            <a:srgbClr val="EAF3F2"/>
          </a:solidFill>
          <a:ln w="12700">
            <a:solidFill>
              <a:srgbClr val="EAF3F2"/>
            </a:solidFill>
            <a:prstDash val="solid"/>
          </a:ln>
        </p:spPr>
      </p:sp>
      <p:sp>
        <p:nvSpPr>
          <p:cNvPr id="10" name="Shape 6"/>
          <p:cNvSpPr/>
          <p:nvPr/>
        </p:nvSpPr>
        <p:spPr>
          <a:xfrm>
            <a:off x="4526280" y="1828800"/>
            <a:ext cx="548640" cy="548640"/>
          </a:xfrm>
          <a:prstGeom prst="ellipse">
            <a:avLst/>
          </a:prstGeom>
          <a:solidFill>
            <a:srgbClr val="0F6E6E"/>
          </a:solidFill>
          <a:ln w="12700">
            <a:solidFill>
              <a:srgbClr val="0F6E6E"/>
            </a:solidFill>
            <a:prstDash val="solid"/>
          </a:ln>
        </p:spPr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57954" y="1960474"/>
            <a:ext cx="285293" cy="285293"/>
          </a:xfrm>
          <a:prstGeom prst="rect">
            <a:avLst/>
          </a:prstGeom>
        </p:spPr>
      </p:pic>
      <p:sp>
        <p:nvSpPr>
          <p:cNvPr id="12" name="Text 7"/>
          <p:cNvSpPr txBox="1"/>
          <p:nvPr/>
        </p:nvSpPr>
        <p:spPr>
          <a:xfrm>
            <a:off x="5212080" y="1828800"/>
            <a:ext cx="2468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4313D"/>
                </a:solidFill>
              </a:rPr>
              <a:t>Human in the loop</a:t>
            </a:r>
            <a:endParaRPr lang="en-US" sz="1600" dirty="0"/>
          </a:p>
        </p:txBody>
      </p:sp>
      <p:sp>
        <p:nvSpPr>
          <p:cNvPr id="13" name="Text 8"/>
          <p:cNvSpPr txBox="1"/>
          <p:nvPr/>
        </p:nvSpPr>
        <p:spPr>
          <a:xfrm>
            <a:off x="4526280" y="2514600"/>
            <a:ext cx="31089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5B6B73"/>
                </a:solidFill>
              </a:rPr>
              <a:t>The twin alerts; a counsellor or clinician decides. It never diagnoses</a:t>
            </a:r>
            <a:endParaRPr lang="en-US" sz="1300" dirty="0"/>
          </a:p>
        </p:txBody>
      </p:sp>
      <p:sp>
        <p:nvSpPr>
          <p:cNvPr id="14" name="Shape 9"/>
          <p:cNvSpPr/>
          <p:nvPr/>
        </p:nvSpPr>
        <p:spPr>
          <a:xfrm>
            <a:off x="8046720" y="1600200"/>
            <a:ext cx="3520440" cy="1783080"/>
          </a:xfrm>
          <a:prstGeom prst="roundRect">
            <a:avLst>
              <a:gd name="adj" fmla="val 5128"/>
            </a:avLst>
          </a:prstGeom>
          <a:solidFill>
            <a:srgbClr val="EAF3F2"/>
          </a:solidFill>
          <a:ln w="12700">
            <a:solidFill>
              <a:srgbClr val="EAF3F2"/>
            </a:solidFill>
            <a:prstDash val="solid"/>
          </a:ln>
        </p:spPr>
      </p:sp>
      <p:sp>
        <p:nvSpPr>
          <p:cNvPr id="15" name="Shape 10"/>
          <p:cNvSpPr/>
          <p:nvPr/>
        </p:nvSpPr>
        <p:spPr>
          <a:xfrm>
            <a:off x="8275320" y="1828800"/>
            <a:ext cx="548640" cy="548640"/>
          </a:xfrm>
          <a:prstGeom prst="ellipse">
            <a:avLst/>
          </a:prstGeom>
          <a:solidFill>
            <a:srgbClr val="0F6E6E"/>
          </a:solidFill>
          <a:ln w="12700">
            <a:solidFill>
              <a:srgbClr val="0F6E6E"/>
            </a:solidFill>
            <a:prstDash val="solid"/>
          </a:ln>
        </p:spPr>
      </p:sp>
      <p:pic>
        <p:nvPicPr>
          <p:cNvPr id="16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406994" y="1960474"/>
            <a:ext cx="285293" cy="285293"/>
          </a:xfrm>
          <a:prstGeom prst="rect">
            <a:avLst/>
          </a:prstGeom>
        </p:spPr>
      </p:pic>
      <p:sp>
        <p:nvSpPr>
          <p:cNvPr id="17" name="Text 11"/>
          <p:cNvSpPr txBox="1"/>
          <p:nvPr/>
        </p:nvSpPr>
        <p:spPr>
          <a:xfrm>
            <a:off x="8961120" y="1828800"/>
            <a:ext cx="2468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4313D"/>
                </a:solidFill>
              </a:rPr>
              <a:t>Explainable</a:t>
            </a:r>
            <a:endParaRPr lang="en-US" sz="1600" dirty="0"/>
          </a:p>
        </p:txBody>
      </p:sp>
      <p:sp>
        <p:nvSpPr>
          <p:cNvPr id="18" name="Text 12"/>
          <p:cNvSpPr txBox="1"/>
          <p:nvPr/>
        </p:nvSpPr>
        <p:spPr>
          <a:xfrm>
            <a:off x="8275320" y="2514600"/>
            <a:ext cx="31089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5B6B73"/>
                </a:solidFill>
              </a:rPr>
              <a:t>Every alert ships with its reasons, measured against the person's own normal</a:t>
            </a:r>
            <a:endParaRPr lang="en-US" sz="1300" dirty="0"/>
          </a:p>
        </p:txBody>
      </p:sp>
      <p:sp>
        <p:nvSpPr>
          <p:cNvPr id="19" name="Shape 13"/>
          <p:cNvSpPr/>
          <p:nvPr/>
        </p:nvSpPr>
        <p:spPr>
          <a:xfrm>
            <a:off x="548640" y="3794760"/>
            <a:ext cx="3520440" cy="1783080"/>
          </a:xfrm>
          <a:prstGeom prst="roundRect">
            <a:avLst>
              <a:gd name="adj" fmla="val 5128"/>
            </a:avLst>
          </a:prstGeom>
          <a:solidFill>
            <a:srgbClr val="F8E6E2"/>
          </a:solidFill>
          <a:ln w="12700">
            <a:solidFill>
              <a:srgbClr val="F8E6E2"/>
            </a:solidFill>
            <a:prstDash val="solid"/>
          </a:ln>
        </p:spPr>
      </p:sp>
      <p:sp>
        <p:nvSpPr>
          <p:cNvPr id="20" name="Shape 14"/>
          <p:cNvSpPr/>
          <p:nvPr/>
        </p:nvSpPr>
        <p:spPr>
          <a:xfrm>
            <a:off x="777240" y="4023360"/>
            <a:ext cx="548640" cy="548640"/>
          </a:xfrm>
          <a:prstGeom prst="ellipse">
            <a:avLst/>
          </a:prstGeom>
          <a:solidFill>
            <a:srgbClr val="C8553D"/>
          </a:solidFill>
          <a:ln w="12700">
            <a:solidFill>
              <a:srgbClr val="C8553D"/>
            </a:solidFill>
            <a:prstDash val="solid"/>
          </a:ln>
        </p:spPr>
      </p:sp>
      <p:pic>
        <p:nvPicPr>
          <p:cNvPr id="21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08914" y="4155034"/>
            <a:ext cx="285293" cy="285293"/>
          </a:xfrm>
          <a:prstGeom prst="rect">
            <a:avLst/>
          </a:prstGeom>
        </p:spPr>
      </p:pic>
      <p:sp>
        <p:nvSpPr>
          <p:cNvPr id="22" name="Text 15"/>
          <p:cNvSpPr txBox="1"/>
          <p:nvPr/>
        </p:nvSpPr>
        <p:spPr>
          <a:xfrm>
            <a:off x="1463040" y="4023360"/>
            <a:ext cx="2468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4313D"/>
                </a:solidFill>
              </a:rPr>
              <a:t>Narrow scope</a:t>
            </a:r>
            <a:endParaRPr lang="en-US" sz="1600" dirty="0"/>
          </a:p>
        </p:txBody>
      </p:sp>
      <p:sp>
        <p:nvSpPr>
          <p:cNvPr id="23" name="Text 16"/>
          <p:cNvSpPr txBox="1"/>
          <p:nvPr/>
        </p:nvSpPr>
        <p:spPr>
          <a:xfrm>
            <a:off x="777240" y="4709160"/>
            <a:ext cx="31089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5B6B73"/>
                </a:solidFill>
              </a:rPr>
              <a:t>Predicts episode onset only. No suicide or self-harm prediction; crisis line Tele-MANAS 14416 in-app</a:t>
            </a:r>
            <a:endParaRPr lang="en-US" sz="1300" dirty="0"/>
          </a:p>
        </p:txBody>
      </p:sp>
      <p:sp>
        <p:nvSpPr>
          <p:cNvPr id="24" name="Shape 17"/>
          <p:cNvSpPr/>
          <p:nvPr/>
        </p:nvSpPr>
        <p:spPr>
          <a:xfrm>
            <a:off x="4297680" y="3794760"/>
            <a:ext cx="3520440" cy="1783080"/>
          </a:xfrm>
          <a:prstGeom prst="roundRect">
            <a:avLst>
              <a:gd name="adj" fmla="val 5128"/>
            </a:avLst>
          </a:prstGeom>
          <a:solidFill>
            <a:srgbClr val="EAF3F2"/>
          </a:solidFill>
          <a:ln w="12700">
            <a:solidFill>
              <a:srgbClr val="EAF3F2"/>
            </a:solidFill>
            <a:prstDash val="solid"/>
          </a:ln>
        </p:spPr>
      </p:sp>
      <p:sp>
        <p:nvSpPr>
          <p:cNvPr id="25" name="Shape 18"/>
          <p:cNvSpPr/>
          <p:nvPr/>
        </p:nvSpPr>
        <p:spPr>
          <a:xfrm>
            <a:off x="4526280" y="4023360"/>
            <a:ext cx="548640" cy="548640"/>
          </a:xfrm>
          <a:prstGeom prst="ellipse">
            <a:avLst/>
          </a:prstGeom>
          <a:solidFill>
            <a:srgbClr val="0F6E6E"/>
          </a:solidFill>
          <a:ln w="12700">
            <a:solidFill>
              <a:srgbClr val="0F6E6E"/>
            </a:solidFill>
            <a:prstDash val="solid"/>
          </a:ln>
        </p:spPr>
      </p:sp>
      <p:pic>
        <p:nvPicPr>
          <p:cNvPr id="26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657954" y="4155034"/>
            <a:ext cx="285293" cy="285293"/>
          </a:xfrm>
          <a:prstGeom prst="rect">
            <a:avLst/>
          </a:prstGeom>
        </p:spPr>
      </p:pic>
      <p:sp>
        <p:nvSpPr>
          <p:cNvPr id="27" name="Text 19"/>
          <p:cNvSpPr txBox="1"/>
          <p:nvPr/>
        </p:nvSpPr>
        <p:spPr>
          <a:xfrm>
            <a:off x="5212080" y="4023360"/>
            <a:ext cx="2468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4313D"/>
                </a:solidFill>
              </a:rPr>
              <a:t>Privacy</a:t>
            </a:r>
            <a:endParaRPr lang="en-US" sz="1600" dirty="0"/>
          </a:p>
        </p:txBody>
      </p:sp>
      <p:sp>
        <p:nvSpPr>
          <p:cNvPr id="28" name="Text 20"/>
          <p:cNvSpPr txBox="1"/>
          <p:nvPr/>
        </p:nvSpPr>
        <p:spPr>
          <a:xfrm>
            <a:off x="4526280" y="4709160"/>
            <a:ext cx="31089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5B6B73"/>
                </a:solidFill>
              </a:rPr>
              <a:t>Pseudonymous IDs, counts not content from phones, aggregate-only views for institutions</a:t>
            </a:r>
            <a:endParaRPr lang="en-US" sz="1300" dirty="0"/>
          </a:p>
        </p:txBody>
      </p:sp>
      <p:sp>
        <p:nvSpPr>
          <p:cNvPr id="29" name="Shape 21"/>
          <p:cNvSpPr/>
          <p:nvPr/>
        </p:nvSpPr>
        <p:spPr>
          <a:xfrm>
            <a:off x="8046720" y="3794760"/>
            <a:ext cx="3520440" cy="1783080"/>
          </a:xfrm>
          <a:prstGeom prst="roundRect">
            <a:avLst>
              <a:gd name="adj" fmla="val 5128"/>
            </a:avLst>
          </a:prstGeom>
          <a:solidFill>
            <a:srgbClr val="EAF3F2"/>
          </a:solidFill>
          <a:ln w="12700">
            <a:solidFill>
              <a:srgbClr val="EAF3F2"/>
            </a:solidFill>
            <a:prstDash val="solid"/>
          </a:ln>
        </p:spPr>
      </p:sp>
      <p:sp>
        <p:nvSpPr>
          <p:cNvPr id="30" name="Shape 22"/>
          <p:cNvSpPr/>
          <p:nvPr/>
        </p:nvSpPr>
        <p:spPr>
          <a:xfrm>
            <a:off x="8275320" y="4023360"/>
            <a:ext cx="548640" cy="548640"/>
          </a:xfrm>
          <a:prstGeom prst="ellipse">
            <a:avLst/>
          </a:prstGeom>
          <a:solidFill>
            <a:srgbClr val="0F6E6E"/>
          </a:solidFill>
          <a:ln w="12700">
            <a:solidFill>
              <a:srgbClr val="0F6E6E"/>
            </a:solidFill>
            <a:prstDash val="solid"/>
          </a:ln>
        </p:spPr>
      </p:sp>
      <p:pic>
        <p:nvPicPr>
          <p:cNvPr id="31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406994" y="4155034"/>
            <a:ext cx="285293" cy="285293"/>
          </a:xfrm>
          <a:prstGeom prst="rect">
            <a:avLst/>
          </a:prstGeom>
        </p:spPr>
      </p:pic>
      <p:sp>
        <p:nvSpPr>
          <p:cNvPr id="32" name="Text 23"/>
          <p:cNvSpPr txBox="1"/>
          <p:nvPr/>
        </p:nvSpPr>
        <p:spPr>
          <a:xfrm>
            <a:off x="8961120" y="4023360"/>
            <a:ext cx="2468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4313D"/>
                </a:solidFill>
              </a:rPr>
              <a:t>Equity</a:t>
            </a:r>
            <a:endParaRPr lang="en-US" sz="1600" dirty="0"/>
          </a:p>
        </p:txBody>
      </p:sp>
      <p:sp>
        <p:nvSpPr>
          <p:cNvPr id="33" name="Text 24"/>
          <p:cNvSpPr txBox="1"/>
          <p:nvPr/>
        </p:nvSpPr>
        <p:spPr>
          <a:xfrm>
            <a:off x="8275320" y="4709160"/>
            <a:ext cx="31089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5B6B73"/>
                </a:solidFill>
              </a:rPr>
              <a:t>Wearables skew urban and affluent: phone-only mode and bias audits on the roadmap</a:t>
            </a:r>
            <a:endParaRPr lang="en-US" sz="1300" dirty="0"/>
          </a:p>
        </p:txBody>
      </p:sp>
      <p:sp>
        <p:nvSpPr>
          <p:cNvPr id="3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4652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5B6B73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347472"/>
            <a:ext cx="11064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8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Next: train on real longitudinal data, then pilot with a university wellness centre</a:t>
            </a:r>
            <a:endParaRPr lang="en-US" sz="2800" dirty="0"/>
          </a:p>
        </p:txBody>
      </p:sp>
      <p:sp>
        <p:nvSpPr>
          <p:cNvPr id="4" name="Shape 1"/>
          <p:cNvSpPr/>
          <p:nvPr/>
        </p:nvSpPr>
        <p:spPr>
          <a:xfrm>
            <a:off x="822960" y="1965960"/>
            <a:ext cx="10515600" cy="0"/>
          </a:xfrm>
          <a:prstGeom prst="line">
            <a:avLst/>
          </a:prstGeom>
          <a:noFill/>
          <a:ln w="25400">
            <a:solidFill>
              <a:srgbClr val="B9C4C4"/>
            </a:solidFill>
            <a:prstDash val="solid"/>
          </a:ln>
        </p:spPr>
      </p:sp>
      <p:sp>
        <p:nvSpPr>
          <p:cNvPr id="5" name="Shape 2"/>
          <p:cNvSpPr/>
          <p:nvPr/>
        </p:nvSpPr>
        <p:spPr>
          <a:xfrm>
            <a:off x="640080" y="1783080"/>
            <a:ext cx="365760" cy="365760"/>
          </a:xfrm>
          <a:prstGeom prst="ellipse">
            <a:avLst/>
          </a:prstGeom>
          <a:solidFill>
            <a:srgbClr val="0F6E6E"/>
          </a:solidFill>
          <a:ln w="25400">
            <a:solidFill>
              <a:srgbClr val="0F6E6E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640080" y="2331720"/>
            <a:ext cx="25603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300"/>
              </a:spcAft>
              <a:buNone/>
            </a:pPr>
            <a:r>
              <a:rPr lang="en-US" sz="1300" b="1" dirty="0">
                <a:solidFill>
                  <a:srgbClr val="0F6E6E"/>
                </a:solidFill>
              </a:rPr>
              <a:t>Now</a:t>
            </a:r>
            <a:endParaRPr lang="en-US" sz="1300" dirty="0"/>
          </a:p>
          <a:p>
            <a:pPr marL="0" indent="0">
              <a:spcAft>
                <a:spcPts val="300"/>
              </a:spcAft>
              <a:buNone/>
            </a:pPr>
            <a:r>
              <a:rPr lang="en-US" sz="1600" b="1" dirty="0">
                <a:solidFill>
                  <a:srgbClr val="14313D"/>
                </a:solidFill>
              </a:rPr>
              <a:t>PoC, real data, clinicians</a:t>
            </a:r>
            <a:endParaRPr lang="en-US" sz="1300" dirty="0"/>
          </a:p>
          <a:p>
            <a:pPr marL="0" indent="0">
              <a:spcAft>
                <a:spcPts val="300"/>
              </a:spcAft>
              <a:buNone/>
            </a:pPr>
            <a:r>
              <a:rPr lang="en-US" sz="1300" dirty="0">
                <a:solidFill>
                  <a:srgbClr val="5B6B73"/>
                </a:solidFill>
              </a:rPr>
              <a:t>Twin, dashboard, FHIR export; features validated on DEPRESJON (AUROC 0.82); 77% of 30 psychologists surveyed say it is much needed</a:t>
            </a:r>
            <a:endParaRPr lang="en-US" sz="1300" dirty="0"/>
          </a:p>
        </p:txBody>
      </p:sp>
      <p:sp>
        <p:nvSpPr>
          <p:cNvPr id="7" name="Shape 4"/>
          <p:cNvSpPr/>
          <p:nvPr/>
        </p:nvSpPr>
        <p:spPr>
          <a:xfrm>
            <a:off x="3456432" y="1783080"/>
            <a:ext cx="365760" cy="365760"/>
          </a:xfrm>
          <a:prstGeom prst="ellipse">
            <a:avLst/>
          </a:prstGeom>
          <a:solidFill>
            <a:srgbClr val="FFFFFF"/>
          </a:solidFill>
          <a:ln w="25400">
            <a:solidFill>
              <a:srgbClr val="0F6E6E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3456432" y="2331720"/>
            <a:ext cx="25603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300"/>
              </a:spcAft>
              <a:buNone/>
            </a:pPr>
            <a:r>
              <a:rPr lang="en-US" sz="1300" b="1" dirty="0">
                <a:solidFill>
                  <a:srgbClr val="0F6E6E"/>
                </a:solidFill>
              </a:rPr>
              <a:t>Next 3 months</a:t>
            </a:r>
            <a:endParaRPr lang="en-US" sz="1300" dirty="0"/>
          </a:p>
          <a:p>
            <a:pPr marL="0" indent="0">
              <a:spcAft>
                <a:spcPts val="300"/>
              </a:spcAft>
              <a:buNone/>
            </a:pPr>
            <a:r>
              <a:rPr lang="en-US" sz="1600" b="1" dirty="0">
                <a:solidFill>
                  <a:srgbClr val="14313D"/>
                </a:solidFill>
              </a:rPr>
              <a:t>Real longitudinal data</a:t>
            </a:r>
            <a:endParaRPr lang="en-US" sz="1300" dirty="0"/>
          </a:p>
          <a:p>
            <a:pPr marL="0" indent="0">
              <a:spcAft>
                <a:spcPts val="300"/>
              </a:spcAft>
              <a:buNone/>
            </a:pPr>
            <a:r>
              <a:rPr lang="en-US" sz="1300" dirty="0">
                <a:solidFill>
                  <a:srgbClr val="5B6B73"/>
                </a:solidFill>
              </a:rPr>
              <a:t>Train the 7-day early warning on longitudinal research data such as GLOBEM; co-design alerts with clinicians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6272784" y="1783080"/>
            <a:ext cx="365760" cy="365760"/>
          </a:xfrm>
          <a:prstGeom prst="ellipse">
            <a:avLst/>
          </a:prstGeom>
          <a:solidFill>
            <a:srgbClr val="FFFFFF"/>
          </a:solidFill>
          <a:ln w="25400">
            <a:solidFill>
              <a:srgbClr val="0F6E6E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6272784" y="2331720"/>
            <a:ext cx="25603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300"/>
              </a:spcAft>
              <a:buNone/>
            </a:pPr>
            <a:r>
              <a:rPr lang="en-US" sz="1300" b="1" dirty="0">
                <a:solidFill>
                  <a:srgbClr val="0F6E6E"/>
                </a:solidFill>
              </a:rPr>
              <a:t>3–9 months</a:t>
            </a:r>
            <a:endParaRPr lang="en-US" sz="1300" dirty="0"/>
          </a:p>
          <a:p>
            <a:pPr marL="0" indent="0">
              <a:spcAft>
                <a:spcPts val="300"/>
              </a:spcAft>
              <a:buNone/>
            </a:pPr>
            <a:r>
              <a:rPr lang="en-US" sz="1600" b="1" dirty="0">
                <a:solidFill>
                  <a:srgbClr val="14313D"/>
                </a:solidFill>
              </a:rPr>
              <a:t>Campus pilot</a:t>
            </a:r>
            <a:endParaRPr lang="en-US" sz="1300" dirty="0"/>
          </a:p>
          <a:p>
            <a:pPr marL="0" indent="0">
              <a:spcAft>
                <a:spcPts val="300"/>
              </a:spcAft>
              <a:buNone/>
            </a:pPr>
            <a:r>
              <a:rPr lang="en-US" sz="1300" dirty="0">
                <a:solidFill>
                  <a:srgbClr val="5B6B73"/>
                </a:solidFill>
              </a:rPr>
              <a:t>Consented pilot with a university wellness centre; co-design alerts with counsellors</a:t>
            </a:r>
            <a:endParaRPr lang="en-US" sz="1300" dirty="0"/>
          </a:p>
        </p:txBody>
      </p:sp>
      <p:sp>
        <p:nvSpPr>
          <p:cNvPr id="11" name="Shape 8"/>
          <p:cNvSpPr/>
          <p:nvPr/>
        </p:nvSpPr>
        <p:spPr>
          <a:xfrm>
            <a:off x="9089136" y="1783080"/>
            <a:ext cx="365760" cy="365760"/>
          </a:xfrm>
          <a:prstGeom prst="ellipse">
            <a:avLst/>
          </a:prstGeom>
          <a:solidFill>
            <a:srgbClr val="FFFFFF"/>
          </a:solidFill>
          <a:ln w="25400">
            <a:solidFill>
              <a:srgbClr val="0F6E6E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9089136" y="2331720"/>
            <a:ext cx="25603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300"/>
              </a:spcAft>
              <a:buNone/>
            </a:pPr>
            <a:r>
              <a:rPr lang="en-US" sz="1300" b="1" dirty="0">
                <a:solidFill>
                  <a:srgbClr val="0F6E6E"/>
                </a:solidFill>
              </a:rPr>
              <a:t>9–18 months</a:t>
            </a:r>
            <a:endParaRPr lang="en-US" sz="1300" dirty="0"/>
          </a:p>
          <a:p>
            <a:pPr marL="0" indent="0">
              <a:spcAft>
                <a:spcPts val="300"/>
              </a:spcAft>
              <a:buNone/>
            </a:pPr>
            <a:r>
              <a:rPr lang="en-US" sz="1600" b="1" dirty="0">
                <a:solidFill>
                  <a:srgbClr val="14313D"/>
                </a:solidFill>
              </a:rPr>
              <a:t>Scale</a:t>
            </a:r>
            <a:endParaRPr lang="en-US" sz="1300" dirty="0"/>
          </a:p>
          <a:p>
            <a:pPr marL="0" indent="0">
              <a:spcAft>
                <a:spcPts val="300"/>
              </a:spcAft>
              <a:buNone/>
            </a:pPr>
            <a:r>
              <a:rPr lang="en-US" sz="1300" dirty="0">
                <a:solidFill>
                  <a:srgbClr val="5B6B73"/>
                </a:solidFill>
              </a:rPr>
              <a:t>Health Connect / HealthKit ingestion, ABDM-linked records, multilingual nudges, phone-only mode</a:t>
            </a:r>
            <a:endParaRPr lang="en-US" sz="1300" dirty="0"/>
          </a:p>
        </p:txBody>
      </p:sp>
      <p:sp>
        <p:nvSpPr>
          <p:cNvPr id="13" name="Shape 10"/>
          <p:cNvSpPr/>
          <p:nvPr/>
        </p:nvSpPr>
        <p:spPr>
          <a:xfrm>
            <a:off x="548640" y="4160520"/>
            <a:ext cx="11018520" cy="1143000"/>
          </a:xfrm>
          <a:prstGeom prst="roundRect">
            <a:avLst>
              <a:gd name="adj" fmla="val 8000"/>
            </a:avLst>
          </a:prstGeom>
          <a:solidFill>
            <a:srgbClr val="FBF0DE"/>
          </a:solidFill>
          <a:ln w="12700">
            <a:solidFill>
              <a:srgbClr val="FBF0DE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822960" y="4297680"/>
            <a:ext cx="10515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rgbClr val="14313D"/>
                </a:solidFill>
              </a:rPr>
              <a:t>Honest limitations</a:t>
            </a:r>
            <a:endParaRPr lang="en-US" sz="1500" dirty="0"/>
          </a:p>
          <a:p>
            <a:pPr marL="0" indent="0">
              <a:buNone/>
            </a:pPr>
            <a:r>
              <a:rPr lang="en-US" sz="1300" dirty="0">
                <a:solidFill>
                  <a:srgbClr val="5B6B73"/>
                </a:solidFill>
              </a:rPr>
              <a:t>Early-warning accuracy is from synthetic data (features checked on real actigraphy) · about half of episodes flagged early, so it supports rather than replaces human judgement · what-if is associative, not causal · one global model with personalised features, not yet per-person models.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4652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5B6B73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1463040"/>
            <a:ext cx="10515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Proactive, not reactive.</a:t>
            </a:r>
            <a:endParaRPr lang="en-US" sz="44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2514600"/>
            <a:ext cx="9144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000" dirty="0">
                <a:solidFill>
                  <a:srgbClr val="CFE5E1"/>
                </a:solidFill>
              </a:rPr>
              <a:t>Better mental-health care starts with knowing what normal looks like for each of us, and noticing early when it changes.</a:t>
            </a:r>
            <a:endParaRPr lang="en-US" sz="20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3840480"/>
            <a:ext cx="100584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400"/>
              </a:spcAft>
              <a:buNone/>
            </a:pPr>
            <a:r>
              <a:rPr lang="en-US" sz="1500" dirty="0">
                <a:solidFill>
                  <a:srgbClr val="B9C4C4"/>
                </a:solidFill>
              </a:rPr>
              <a:t>Code, data, model and docs: github.com/Shrey-tech272/Digital-Twin_SHREYANSH-JOSHI</a:t>
            </a:r>
            <a:endParaRPr lang="en-US" sz="15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500" dirty="0">
                <a:solidFill>
                  <a:srgbClr val="B9C4C4"/>
                </a:solidFill>
              </a:rPr>
              <a:t>Run it: pip install -r requirements.txt  →  streamlit run app/streamlit_app.py</a:t>
            </a:r>
            <a:endParaRPr lang="en-US" sz="15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500" dirty="0">
                <a:solidFill>
                  <a:srgbClr val="B9C4C4"/>
                </a:solidFill>
              </a:rPr>
              <a:t>Demo video: link in README</a:t>
            </a:r>
            <a:endParaRPr lang="en-US" sz="15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5760720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i="1" dirty="0">
                <a:solidFill>
                  <a:srgbClr val="7FB7A6"/>
                </a:solidFill>
              </a:rPr>
              <a:t>Research prototype on synthetic data, not a diagnostic tool. If you are struggling, call Tele-MANAS 14416 (toll-free, 24×7).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Manas Twin">
  <a:themeElements>
    <a:clrScheme name="Manas Twin">
      <a:dk1>
        <a:srgbClr val="14313D"/>
      </a:dk1>
      <a:lt1>
        <a:srgbClr val="FFFFFF"/>
      </a:lt1>
      <a:dk2>
        <a:srgbClr val="0F6E6E"/>
      </a:dk2>
      <a:lt2>
        <a:srgbClr val="EAF3F2"/>
      </a:lt2>
      <a:accent1>
        <a:srgbClr val="0F6E6E"/>
      </a:accent1>
      <a:accent2>
        <a:srgbClr val="E8A33D"/>
      </a:accent2>
      <a:accent3>
        <a:srgbClr val="C8553D"/>
      </a:accent3>
      <a:accent4>
        <a:srgbClr val="7FB7A6"/>
      </a:accent4>
      <a:accent5>
        <a:srgbClr val="5B6B73"/>
      </a:accent5>
      <a:accent6>
        <a:srgbClr val="B9C4C4"/>
      </a:accent6>
      <a:hlink>
        <a:srgbClr val="0F6E6E"/>
      </a:hlink>
      <a:folHlink>
        <a:srgbClr val="5B6B73"/>
      </a:folHlink>
    </a:clrScheme>
    <a:fontScheme name="Manas Twin">
      <a:majorFont>
        <a:latin typeface="Cambr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137</TotalTime>
  <Words>1838</Words>
  <Application>Microsoft Office PowerPoint</Application>
  <PresentationFormat>Widescreen</PresentationFormat>
  <Paragraphs>210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7" baseType="lpstr">
      <vt:lpstr>Arial</vt:lpstr>
      <vt:lpstr>Calibri</vt:lpstr>
      <vt:lpstr>Cambria</vt:lpstr>
      <vt:lpstr>Manas Twin</vt:lpstr>
      <vt:lpstr>PowerPoint Presentation</vt:lpstr>
      <vt:lpstr>India's mental-health care starts too late: the treatment gap exceeds 60% for almost every disorder</vt:lpstr>
      <vt:lpstr>Everyone's 'normal' is different, so one population cut-off flags the wrong person</vt:lpstr>
      <vt:lpstr>The twin does four things for each person: mirror, predict, explain, simulate</vt:lpstr>
      <vt:lpstr>PowerPoint Presentation</vt:lpstr>
      <vt:lpstr>No public dataset pairs wearables with records, so we simulated 600 people, then checked the features on real actigraphy</vt:lpstr>
      <vt:lpstr>Personal-baseline features + XGBoost + SHAP: accurate enough to screen, transparent enough to trust</vt:lpstr>
      <vt:lpstr>Personalisation catches more episodes in advance with about 25% fewer false alerts</vt:lpstr>
      <vt:lpstr>For one student, the twin raised the alarm 7 days before onset; usual care diagnosed 19 days after</vt:lpstr>
      <vt:lpstr>A healthier week moves the same student from early warning back to stable</vt:lpstr>
      <vt:lpstr>Safe by design: consent-first, human-in-the-loop, and no suicide-risk prediction</vt:lpstr>
      <vt:lpstr>Next: train on real longitudinal data, then pilot with a university wellness centre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Manas Twin - Digital Twin for Early Warning of Depressive Episodes</dc:title>
  <dc:subject>PptxGenJS Presentation</dc:subject>
  <dc:creator>Manas Twin Team</dc:creator>
  <cp:lastModifiedBy>shreyansh.joshi</cp:lastModifiedBy>
  <cp:revision>2</cp:revision>
  <dcterms:created xsi:type="dcterms:W3CDTF">2026-10-20T09:01:52Z</dcterms:created>
  <dcterms:modified xsi:type="dcterms:W3CDTF">2026-10-24T09:56:19Z</dcterms:modified>
</cp:coreProperties>
</file>